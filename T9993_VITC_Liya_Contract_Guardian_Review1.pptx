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147470489" r:id="rId2"/>
    <p:sldId id="2147470492" r:id="rId3"/>
    <p:sldId id="2147470493" r:id="rId4"/>
    <p:sldId id="2147470494" r:id="rId5"/>
    <p:sldId id="2147470495" r:id="rId6"/>
    <p:sldId id="2147470498" r:id="rId7"/>
    <p:sldId id="2147470499" r:id="rId8"/>
    <p:sldId id="2147470496" r:id="rId9"/>
    <p:sldId id="2147470497" r:id="rId10"/>
    <p:sldId id="2147470501" r:id="rId11"/>
    <p:sldId id="2147470507" r:id="rId12"/>
    <p:sldId id="2147470491" r:id="rId13"/>
    <p:sldId id="2147470487" r:id="rId14"/>
    <p:sldId id="2147470500" r:id="rId15"/>
    <p:sldId id="2147470502" r:id="rId16"/>
    <p:sldId id="2147470503" r:id="rId17"/>
    <p:sldId id="2147470504" r:id="rId18"/>
    <p:sldId id="2147470505" r:id="rId19"/>
    <p:sldId id="214747050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0070C0"/>
    <a:srgbClr val="FFFFFF"/>
    <a:srgbClr val="25B9ED"/>
    <a:srgbClr val="47BDAE"/>
    <a:srgbClr val="30BBDA"/>
    <a:srgbClr val="47BDAF"/>
    <a:srgbClr val="696969"/>
    <a:srgbClr val="1C4D98"/>
    <a:srgbClr val="8BC4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90FBC-F1E6-42E3-B9E9-197E9B083C8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E60899-AA6C-4719-B01B-808441E59C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029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60899-AA6C-4719-B01B-808441E59C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333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</a:rPr>
              <a:t>Contract Guardian :</a:t>
            </a:r>
            <a:endParaRPr lang="en-IN" sz="3600" dirty="0">
              <a:solidFill>
                <a:schemeClr val="bg1"/>
              </a:solidFill>
            </a:endParaRPr>
          </a:p>
          <a:p>
            <a:pPr algn="ctr"/>
            <a:r>
              <a:rPr lang="en-IN" sz="3600" b="1" dirty="0">
                <a:solidFill>
                  <a:schemeClr val="bg1"/>
                </a:solidFill>
              </a:rPr>
              <a:t>An AI System for Contract Risk Detection, Longitudinal Drift Tracking, and Regulatory Change Ripple Mapping</a:t>
            </a:r>
            <a:endParaRPr lang="en-IN" sz="3600" dirty="0">
              <a:solidFill>
                <a:schemeClr val="bg1"/>
              </a:solidFill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LIYA ELIZABETH RAJU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34639F-6573-8BF5-8AE8-C53B06BA09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202" b="25961"/>
          <a:stretch>
            <a:fillRect/>
          </a:stretch>
        </p:blipFill>
        <p:spPr>
          <a:xfrm>
            <a:off x="148893" y="5852667"/>
            <a:ext cx="2447521" cy="91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sz="2400" b="0" dirty="0">
                <a:latin typeface="+mn-lt"/>
              </a:rPr>
              <a:t>Contracts, terms-of-service agreements, and privacy policies govern nearly every business relationship a freelancer or small company enters into — yet the people signing them rarely have the legal expertise or budget to review them properly.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This creates three compounding risks:</a:t>
            </a:r>
          </a:p>
          <a:p>
            <a:r>
              <a:rPr lang="en-IN" sz="2400" b="0" dirty="0">
                <a:latin typeface="+mn-lt"/>
              </a:rPr>
              <a:t> Risky clauses go unnoticed at signing</a:t>
            </a:r>
          </a:p>
          <a:p>
            <a:r>
              <a:rPr lang="en-IN" sz="2400" b="0" dirty="0">
                <a:latin typeface="+mn-lt"/>
              </a:rPr>
              <a:t>Agreements silently change after acceptance</a:t>
            </a:r>
          </a:p>
          <a:p>
            <a:r>
              <a:rPr lang="en-IN" sz="2400" b="0" dirty="0">
                <a:latin typeface="+mn-lt"/>
              </a:rPr>
              <a:t>Regulatory shifts leave existing documents unreviewed for compliance impact.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0826533" cy="4142989"/>
          </a:xfrm>
        </p:spPr>
        <p:txBody>
          <a:bodyPr/>
          <a:lstStyle/>
          <a:p>
            <a:pPr lvl="0"/>
            <a:r>
              <a:rPr lang="en-IN" sz="2400" b="0" dirty="0">
                <a:latin typeface="+mn-lt"/>
              </a:rPr>
              <a:t>Detect risky clauses — parse and classify contracts into structured clause units, flagging deviations from standard terms with a cited reference clause.</a:t>
            </a:r>
          </a:p>
          <a:p>
            <a:pPr lvl="0"/>
            <a:r>
              <a:rPr lang="en-IN" sz="2400" b="0" dirty="0">
                <a:latin typeface="+mn-lt"/>
              </a:rPr>
              <a:t>Track document drift — diff historical versions of </a:t>
            </a:r>
            <a:r>
              <a:rPr lang="en-IN" sz="2400" b="0" dirty="0" err="1">
                <a:latin typeface="+mn-lt"/>
              </a:rPr>
              <a:t>ToS</a:t>
            </a:r>
            <a:r>
              <a:rPr lang="en-IN" sz="2400" b="0" dirty="0">
                <a:latin typeface="+mn-lt"/>
              </a:rPr>
              <a:t>/privacy policies and summarize changes in plain language.</a:t>
            </a:r>
          </a:p>
          <a:p>
            <a:pPr lvl="0"/>
            <a:r>
              <a:rPr lang="en-IN" sz="2400" b="0" dirty="0">
                <a:latin typeface="+mn-lt"/>
              </a:rPr>
              <a:t>Map regulatory ripple effects — build a lightweight dependency graph so a regulatory change surfaces which of a user's documents are affected.</a:t>
            </a:r>
          </a:p>
          <a:p>
            <a:pPr lvl="0"/>
            <a:r>
              <a:rPr lang="en-IN" sz="2400" b="0" dirty="0">
                <a:latin typeface="+mn-lt"/>
              </a:rPr>
              <a:t>Ground every output — one shared RAG pipeline ensures every flag or summary cites its source, avoiding unsupported claims.</a:t>
            </a:r>
          </a:p>
          <a:p>
            <a:pPr lvl="0"/>
            <a:r>
              <a:rPr lang="en-IN" sz="2400" b="0" dirty="0">
                <a:latin typeface="+mn-lt"/>
              </a:rPr>
              <a:t>Stay advisory, not prescriptive — outputs are framed as "flagged for review," never as legal verdicts.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794407" y="57036"/>
            <a:ext cx="9397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/>
              <a:t>Risk Highlighter: Parse and classify contract clauses, detect red flags using a pgvector reference corpus, and provide RAG-based, confidence-scored explanations. </a:t>
            </a:r>
          </a:p>
          <a:p>
            <a:pPr lvl="0"/>
            <a:r>
              <a:rPr lang="en-IN" sz="2400" b="0" dirty="0"/>
              <a:t>Drift Tracker: Track selected ToS/privacy policies using historical snapshots, perform clause-level diffing, and summarize important changes in plain language. </a:t>
            </a:r>
          </a:p>
          <a:p>
            <a:pPr lvl="0"/>
            <a:r>
              <a:rPr lang="en-IN" sz="2400" b="0" dirty="0"/>
              <a:t>Ripple Mapper: Focus on one jurisdiction/regulation (e.g., India’s DPDP Act) and map affected clause types to regulatory sections to identify impacted user documents.</a:t>
            </a:r>
          </a:p>
          <a:p>
            <a:endParaRPr lang="en-IN" sz="2400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6C4F0D3-0785-BFA7-2652-506570800025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>
                <a:latin typeface="+mn-lt"/>
              </a:rPr>
              <a:t>CLAUDETTE: Uses NLP and machine learning to detect potentially unfair clauses in consumer contracts. </a:t>
            </a:r>
          </a:p>
          <a:p>
            <a:pPr lvl="0"/>
            <a:r>
              <a:rPr lang="en-IN" sz="2400" b="0" dirty="0" err="1">
                <a:latin typeface="+mn-lt"/>
              </a:rPr>
              <a:t>ContractNLI</a:t>
            </a:r>
            <a:r>
              <a:rPr lang="en-IN" sz="2400" b="0" dirty="0">
                <a:latin typeface="+mn-lt"/>
              </a:rPr>
              <a:t>: Applies natural language inference to identify whether contracts satisfy specific legal hypotheses. </a:t>
            </a:r>
          </a:p>
          <a:p>
            <a:pPr lvl="0"/>
            <a:r>
              <a:rPr lang="en-IN" sz="2400" b="0" dirty="0">
                <a:latin typeface="+mn-lt"/>
              </a:rPr>
              <a:t>Legal-BERT / Transformer Models: Improve clause classification and legal text understanding. </a:t>
            </a:r>
          </a:p>
          <a:p>
            <a:pPr lvl="0"/>
            <a:r>
              <a:rPr lang="en-IN" sz="2400" b="0" dirty="0">
                <a:latin typeface="+mn-lt"/>
              </a:rPr>
              <a:t>Limitation: Most systems </a:t>
            </a:r>
            <a:r>
              <a:rPr lang="en-IN" sz="2400" b="0" dirty="0" err="1">
                <a:latin typeface="+mn-lt"/>
              </a:rPr>
              <a:t>analyze</a:t>
            </a:r>
            <a:r>
              <a:rPr lang="en-IN" sz="2400" b="0" dirty="0">
                <a:latin typeface="+mn-lt"/>
              </a:rPr>
              <a:t> a contract as a single snapshot and focus on identifying risky clauses rather than monitoring them over time.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5EEEB21-3E1C-1A3E-61CC-4CAC58D38572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10838-A308-AFD6-3607-6314C9F51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B6E1F1-FD02-4918-0317-BC64A01FA3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>
                <a:latin typeface="+mn-lt"/>
              </a:rPr>
              <a:t>Research on privacy-policy evolution studies how terms change across different versions and providers. </a:t>
            </a:r>
          </a:p>
          <a:p>
            <a:pPr lvl="0"/>
            <a:r>
              <a:rPr lang="en-IN" sz="2400" b="0" dirty="0">
                <a:latin typeface="+mn-lt"/>
              </a:rPr>
              <a:t>Diff-based and NLP approaches identify additions, deletions, and semantic changes between policy versions. </a:t>
            </a:r>
          </a:p>
          <a:p>
            <a:pPr lvl="0"/>
            <a:r>
              <a:rPr lang="en-IN" sz="2400" b="0" dirty="0">
                <a:latin typeface="+mn-lt"/>
              </a:rPr>
              <a:t>Studies reveal that policies can undergo significant changes that users may not notice. </a:t>
            </a:r>
          </a:p>
          <a:p>
            <a:pPr lvl="0"/>
            <a:r>
              <a:rPr lang="en-IN" sz="2400" b="0" dirty="0">
                <a:latin typeface="+mn-lt"/>
              </a:rPr>
              <a:t>Limitation: Existing work is primarily corpus-level or research-oriented, rather than tracking the cumulative impact on an individual user's accepted documents.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72CFED-E9A1-5FA1-A0FC-7A4835ECB78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F1A069-129F-F9FA-BD6D-84408836DB9A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E54B52-D7D0-C1AF-3A1F-1E7EDAF8093A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63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5963A-3177-46A0-D6D7-50A1857E4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3C57C1-3B4E-7C9C-8C2C-2B0D0D2CDE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 err="1">
                <a:latin typeface="+mn-lt"/>
              </a:rPr>
              <a:t>PrivComp</a:t>
            </a:r>
            <a:r>
              <a:rPr lang="en-IN" sz="2400" b="0" dirty="0">
                <a:latin typeface="+mn-lt"/>
              </a:rPr>
              <a:t>-KG: Represents relationships between privacy regulations, requirements, and compliance concepts. </a:t>
            </a:r>
          </a:p>
          <a:p>
            <a:pPr lvl="0"/>
            <a:r>
              <a:rPr lang="en-IN" sz="2400" b="0" dirty="0" err="1">
                <a:latin typeface="+mn-lt"/>
              </a:rPr>
              <a:t>GraphCompliance</a:t>
            </a:r>
            <a:r>
              <a:rPr lang="en-IN" sz="2400" b="0" dirty="0">
                <a:latin typeface="+mn-lt"/>
              </a:rPr>
              <a:t>: Uses knowledge graphs to connect regulatory requirements with compliance information. </a:t>
            </a:r>
          </a:p>
          <a:p>
            <a:pPr lvl="0"/>
            <a:r>
              <a:rPr lang="en-IN" sz="2400" b="0" dirty="0">
                <a:latin typeface="+mn-lt"/>
              </a:rPr>
              <a:t>Legal knowledge graphs: Support regulatory reasoning, entity relationships, and compliance analysis. </a:t>
            </a:r>
          </a:p>
          <a:p>
            <a:pPr lvl="0"/>
            <a:r>
              <a:rPr lang="en-IN" sz="2400" b="0" dirty="0">
                <a:latin typeface="+mn-lt"/>
              </a:rPr>
              <a:t>Limitation: These systems generally reason about regulations in isolation and do not identify which specific documents belonging to a user are affected by a regulatory change.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FE6259-B33B-8889-955E-85DFD8AA48D6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735A7CB-7100-584C-E953-BD46BA7AFD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16AC72B-908D-3C29-DDFF-8B2EC787C026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16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sz="2400" b="0" dirty="0">
                <a:latin typeface="+mn-lt"/>
              </a:rPr>
              <a:t>Contract analysis tools such as CLAUDETTE detect potentially unfair clauses, while privacy-policy research studies changes in documents over time. Compliance knowledge graphs such as </a:t>
            </a:r>
            <a:r>
              <a:rPr lang="en-IN" sz="2400" b="0" dirty="0" err="1">
                <a:latin typeface="+mn-lt"/>
              </a:rPr>
              <a:t>PrivComp</a:t>
            </a:r>
            <a:r>
              <a:rPr lang="en-IN" sz="2400" b="0" dirty="0">
                <a:latin typeface="+mn-lt"/>
              </a:rPr>
              <a:t>-KG and </a:t>
            </a:r>
            <a:r>
              <a:rPr lang="en-IN" sz="2400" b="0" dirty="0" err="1">
                <a:latin typeface="+mn-lt"/>
              </a:rPr>
              <a:t>GraphCompliance</a:t>
            </a:r>
            <a:r>
              <a:rPr lang="en-IN" sz="2400" b="0" dirty="0">
                <a:latin typeface="+mn-lt"/>
              </a:rPr>
              <a:t> model relationships between regulations and compliance requirements.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These approaches address clause risk, document drift, and regulatory compliance separately and are not personalized to an individual’s document set. Contract Guardian integrates all three through a clause-level parsing engine, enabling risk highlighting at signing, tracking cumulative rights erosion, and identifying which user documents are affected when regulations change.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AD5907D-41F8-3CB2-0398-E85BC19BEEC7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+mn-lt"/>
                <a:ea typeface="Calibri" pitchFamily="34" charset="-122"/>
                <a:cs typeface="Calibri" pitchFamily="34" charset="-120"/>
              </a:rPr>
              <a:t>DATA AQUISITION</a:t>
            </a:r>
          </a:p>
          <a:p>
            <a:pPr marL="0" indent="0">
              <a:buNone/>
            </a:pPr>
            <a:r>
              <a:rPr lang="en-US" sz="2400" b="0" dirty="0">
                <a:latin typeface="+mn-lt"/>
                <a:ea typeface="Calibri" pitchFamily="34" charset="-122"/>
                <a:cs typeface="Calibri" pitchFamily="34" charset="-120"/>
              </a:rPr>
              <a:t>Hand-labeled contracts</a:t>
            </a:r>
            <a:r>
              <a:rPr lang="en-US" sz="2400" b="0" dirty="0">
                <a:latin typeface="+mn-lt"/>
              </a:rPr>
              <a:t> : </a:t>
            </a:r>
            <a:r>
              <a:rPr lang="en-US" sz="2400" b="0" dirty="0">
                <a:latin typeface="+mn-lt"/>
                <a:ea typeface="Calibri" pitchFamily="34" charset="-122"/>
                <a:cs typeface="Calibri" pitchFamily="34" charset="-120"/>
              </a:rPr>
              <a:t>Used to validate the clause parser &amp; classifier (CUAD)</a:t>
            </a:r>
          </a:p>
          <a:p>
            <a:pPr marL="0" indent="0">
              <a:buNone/>
            </a:pPr>
            <a:r>
              <a:rPr lang="en-US" sz="2400" b="0" dirty="0">
                <a:latin typeface="+mn-lt"/>
                <a:ea typeface="Calibri" pitchFamily="34" charset="-122"/>
                <a:cs typeface="Calibri" pitchFamily="34" charset="-120"/>
              </a:rPr>
              <a:t>Standard clause database : Reference/red-flag clauses, indexed in </a:t>
            </a:r>
            <a:r>
              <a:rPr lang="en-US" sz="2400" b="0" dirty="0" err="1">
                <a:latin typeface="+mn-lt"/>
                <a:ea typeface="Calibri" pitchFamily="34" charset="-122"/>
                <a:cs typeface="Calibri" pitchFamily="34" charset="-120"/>
              </a:rPr>
              <a:t>pgvector</a:t>
            </a:r>
            <a:r>
              <a:rPr lang="en-US" sz="2400" b="0" dirty="0">
                <a:latin typeface="+mn-lt"/>
                <a:ea typeface="Calibri" pitchFamily="34" charset="-122"/>
                <a:cs typeface="Calibri" pitchFamily="34" charset="-120"/>
              </a:rPr>
              <a:t>; the actual product value for the Risk Highlighter.</a:t>
            </a:r>
            <a:endParaRPr lang="en-US" sz="2400" b="0" dirty="0">
              <a:latin typeface="+mn-lt"/>
            </a:endParaRPr>
          </a:p>
          <a:p>
            <a:pPr marL="0" indent="0">
              <a:buNone/>
            </a:pPr>
            <a:r>
              <a:rPr lang="en-US" sz="2400" b="0" dirty="0" err="1">
                <a:latin typeface="+mn-lt"/>
                <a:ea typeface="Calibri" pitchFamily="34" charset="-122"/>
                <a:cs typeface="Calibri" pitchFamily="34" charset="-120"/>
              </a:rPr>
              <a:t>ToS</a:t>
            </a:r>
            <a:r>
              <a:rPr lang="en-US" sz="2400" b="0" dirty="0">
                <a:latin typeface="+mn-lt"/>
                <a:ea typeface="Calibri" pitchFamily="34" charset="-122"/>
                <a:cs typeface="Calibri" pitchFamily="34" charset="-120"/>
              </a:rPr>
              <a:t> &amp; privacy policy pages : Historical snapshots via the Wayback Machine, feeding the Drift Tracker.</a:t>
            </a:r>
            <a:endParaRPr lang="en-US" sz="2400" b="0" dirty="0">
              <a:latin typeface="+mn-lt"/>
            </a:endParaRPr>
          </a:p>
          <a:p>
            <a:pPr marL="0" indent="0">
              <a:buNone/>
            </a:pPr>
            <a:r>
              <a:rPr lang="en-US" sz="2400" b="0" dirty="0">
                <a:latin typeface="+mn-lt"/>
                <a:ea typeface="Calibri" pitchFamily="34" charset="-122"/>
                <a:cs typeface="Calibri" pitchFamily="34" charset="-120"/>
              </a:rPr>
              <a:t>Regulatory text corpus : Official gazette RSS or legal-tracking API —input for the Ripple Mapper.</a:t>
            </a:r>
            <a:endParaRPr lang="en-US" sz="2400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93FE00F-8091-20E0-43D9-5D04EF5601AE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87B0A-E590-AD51-CBF1-3180FF68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2F302E-5550-434F-9CEF-8C2EE42415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7409" y="1234637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+mn-lt"/>
                <a:ea typeface="Calibri" pitchFamily="34" charset="-122"/>
                <a:cs typeface="Calibri" pitchFamily="34" charset="-120"/>
              </a:rPr>
              <a:t>TIMELINE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0FBAA-C52C-5BDB-C81E-8A0317D98E2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EF5D68-141C-D24F-2C93-F3DF4FADF60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7FAE881-CDB6-FCE0-FC05-323BBA31D4D9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0258D3-7F41-4E8D-805D-F5146387A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712120"/>
              </p:ext>
            </p:extLst>
          </p:nvPr>
        </p:nvGraphicFramePr>
        <p:xfrm>
          <a:off x="768115" y="1682609"/>
          <a:ext cx="10928889" cy="44976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28148">
                  <a:extLst>
                    <a:ext uri="{9D8B030D-6E8A-4147-A177-3AD203B41FA5}">
                      <a16:colId xmlns:a16="http://schemas.microsoft.com/office/drawing/2014/main" val="3442691972"/>
                    </a:ext>
                  </a:extLst>
                </a:gridCol>
                <a:gridCol w="3744234">
                  <a:extLst>
                    <a:ext uri="{9D8B030D-6E8A-4147-A177-3AD203B41FA5}">
                      <a16:colId xmlns:a16="http://schemas.microsoft.com/office/drawing/2014/main" val="1149726953"/>
                    </a:ext>
                  </a:extLst>
                </a:gridCol>
                <a:gridCol w="5756507">
                  <a:extLst>
                    <a:ext uri="{9D8B030D-6E8A-4147-A177-3AD203B41FA5}">
                      <a16:colId xmlns:a16="http://schemas.microsoft.com/office/drawing/2014/main" val="3686534902"/>
                    </a:ext>
                  </a:extLst>
                </a:gridCol>
              </a:tblGrid>
              <a:tr h="325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Week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Focus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Key Tasks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199265"/>
                  </a:ext>
                </a:extLst>
              </a:tr>
              <a:tr h="812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Week 1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Foundation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Clause parser + classifier, validated on hand-</a:t>
                      </a:r>
                      <a:r>
                        <a:rPr lang="en-IN" sz="2000" dirty="0" err="1">
                          <a:solidFill>
                            <a:srgbClr val="0070C0"/>
                          </a:solidFill>
                        </a:rPr>
                        <a:t>labeled</a:t>
                      </a: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 contracts; finalize scope &amp; data sources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3104018"/>
                  </a:ext>
                </a:extLst>
              </a:tr>
              <a:tr h="812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Week 2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Risk Highlighter core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Curate reference clause corpus; build pgvector RAG pipeline + grounded generation for risk flags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540648"/>
                  </a:ext>
                </a:extLst>
              </a:tr>
              <a:tr h="1430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Week 3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Dashboard + Drift/Ripple PoCs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Wire backend to React dashboard; build Drift Tracker PoC (Wayback snapshots, clause diffing); build Ripple Mapper PoC (single-jurisdiction dependency graph: regulation → clause type → document)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498223"/>
                  </a:ext>
                </a:extLst>
              </a:tr>
              <a:tr h="1056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Week 4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Integration + Demo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End-to-end testing across all three modules on fresh documents; polish grounded explanations; package full demo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1862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5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F81E-D628-58B2-1DCB-A0F06B8C8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E4D8AD-8423-FE75-B75A-D97FAD9312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7409" y="1234637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+mn-lt"/>
                <a:ea typeface="Calibri" pitchFamily="34" charset="-122"/>
                <a:cs typeface="Calibri" pitchFamily="34" charset="-120"/>
              </a:rPr>
              <a:t>TIMELINE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0E245A-2EAA-C405-86B9-CF54E1C1C7A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B71866-BF6F-5585-3488-B4D30A5BE64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20161B5-7AD1-27A2-2E15-750067FEE9E2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8DF784-FB93-0A5B-9779-191BB49FC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948603"/>
              </p:ext>
            </p:extLst>
          </p:nvPr>
        </p:nvGraphicFramePr>
        <p:xfrm>
          <a:off x="597409" y="1808786"/>
          <a:ext cx="11004550" cy="36546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910">
                  <a:extLst>
                    <a:ext uri="{9D8B030D-6E8A-4147-A177-3AD203B41FA5}">
                      <a16:colId xmlns:a16="http://schemas.microsoft.com/office/drawing/2014/main" val="3321161144"/>
                    </a:ext>
                  </a:extLst>
                </a:gridCol>
                <a:gridCol w="2200910">
                  <a:extLst>
                    <a:ext uri="{9D8B030D-6E8A-4147-A177-3AD203B41FA5}">
                      <a16:colId xmlns:a16="http://schemas.microsoft.com/office/drawing/2014/main" val="3211441223"/>
                    </a:ext>
                  </a:extLst>
                </a:gridCol>
                <a:gridCol w="2200910">
                  <a:extLst>
                    <a:ext uri="{9D8B030D-6E8A-4147-A177-3AD203B41FA5}">
                      <a16:colId xmlns:a16="http://schemas.microsoft.com/office/drawing/2014/main" val="3024592976"/>
                    </a:ext>
                  </a:extLst>
                </a:gridCol>
                <a:gridCol w="2200910">
                  <a:extLst>
                    <a:ext uri="{9D8B030D-6E8A-4147-A177-3AD203B41FA5}">
                      <a16:colId xmlns:a16="http://schemas.microsoft.com/office/drawing/2014/main" val="3633329748"/>
                    </a:ext>
                  </a:extLst>
                </a:gridCol>
                <a:gridCol w="2200910">
                  <a:extLst>
                    <a:ext uri="{9D8B030D-6E8A-4147-A177-3AD203B41FA5}">
                      <a16:colId xmlns:a16="http://schemas.microsoft.com/office/drawing/2014/main" val="165392792"/>
                    </a:ext>
                  </a:extLst>
                </a:gridCol>
              </a:tblGrid>
              <a:tr h="456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Project 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Week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Week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Week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Week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680867"/>
                  </a:ext>
                </a:extLst>
              </a:tr>
              <a:tr h="799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Foundation &amp; Clause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████████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6425692"/>
                  </a:ext>
                </a:extLst>
              </a:tr>
              <a:tr h="799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Risk Highlighter &amp;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████████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1219980"/>
                  </a:ext>
                </a:extLst>
              </a:tr>
              <a:tr h="799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Dashboard + Drift/Ripple PoCs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████████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513756"/>
                  </a:ext>
                </a:extLst>
              </a:tr>
              <a:tr h="799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Integration, Testing &amp; Demo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████████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750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87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IN" sz="2400" b="0" dirty="0">
                <a:latin typeface="+mn-lt"/>
              </a:rPr>
              <a:t>Ingestion </a:t>
            </a:r>
          </a:p>
          <a:p>
            <a:pPr marL="457200" indent="-457200">
              <a:buAutoNum type="arabicPeriod"/>
            </a:pPr>
            <a:r>
              <a:rPr lang="en-IN" sz="2400" b="0" dirty="0">
                <a:latin typeface="+mn-lt"/>
              </a:rPr>
              <a:t>Clause Parser </a:t>
            </a:r>
          </a:p>
          <a:p>
            <a:pPr marL="457200" indent="-457200">
              <a:buAutoNum type="arabicPeriod"/>
            </a:pPr>
            <a:r>
              <a:rPr lang="en-IN" sz="2400" b="0" dirty="0">
                <a:latin typeface="+mn-lt"/>
              </a:rPr>
              <a:t>Retrieval Corpus (RAG, </a:t>
            </a:r>
            <a:r>
              <a:rPr lang="en-IN" sz="2400" b="0" dirty="0" err="1">
                <a:latin typeface="+mn-lt"/>
              </a:rPr>
              <a:t>pgvector</a:t>
            </a:r>
            <a:r>
              <a:rPr lang="en-IN" sz="2400" b="0" dirty="0">
                <a:latin typeface="+mn-lt"/>
              </a:rPr>
              <a:t>) </a:t>
            </a:r>
          </a:p>
          <a:p>
            <a:pPr marL="457200" indent="-457200">
              <a:buAutoNum type="arabicPeriod"/>
            </a:pPr>
            <a:r>
              <a:rPr lang="en-IN" sz="2400" b="0" dirty="0">
                <a:latin typeface="+mn-lt"/>
              </a:rPr>
              <a:t>Risk Engine </a:t>
            </a:r>
          </a:p>
          <a:p>
            <a:pPr marL="457200" indent="-457200">
              <a:buAutoNum type="arabicPeriod"/>
            </a:pPr>
            <a:r>
              <a:rPr lang="en-IN" sz="2400" b="0" dirty="0">
                <a:latin typeface="+mn-lt"/>
              </a:rPr>
              <a:t>Drift Engine </a:t>
            </a:r>
          </a:p>
          <a:p>
            <a:pPr marL="457200" indent="-457200">
              <a:buAutoNum type="arabicPeriod"/>
            </a:pPr>
            <a:r>
              <a:rPr lang="en-IN" sz="2400" b="0" dirty="0">
                <a:latin typeface="+mn-lt"/>
              </a:rPr>
              <a:t>Ripple </a:t>
            </a:r>
          </a:p>
          <a:p>
            <a:pPr marL="457200" indent="-457200">
              <a:buAutoNum type="arabicPeriod"/>
            </a:pPr>
            <a:r>
              <a:rPr lang="en-IN" sz="2400" b="0" dirty="0">
                <a:latin typeface="+mn-lt"/>
              </a:rPr>
              <a:t>Frontend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CFA535C-C17E-DBF2-27AB-7B8B2A2DC829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712613"/>
          </a:xfrm>
        </p:spPr>
        <p:txBody>
          <a:bodyPr/>
          <a:lstStyle/>
          <a:p>
            <a:pPr marL="0" indent="0">
              <a:buNone/>
            </a:pPr>
            <a:r>
              <a:rPr lang="en-IN" sz="2400" b="0" dirty="0">
                <a:latin typeface="+mn-lt"/>
              </a:rPr>
              <a:t>Transforms raw legal documents from multiple sources into clean, machine-readable content.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What it does : </a:t>
            </a:r>
          </a:p>
          <a:p>
            <a:r>
              <a:rPr lang="en-IN" sz="2400" b="0" dirty="0">
                <a:latin typeface="+mn-lt"/>
              </a:rPr>
              <a:t>Accepts PDF, DOCX, and web-based Terms of Service and privacy policies </a:t>
            </a:r>
          </a:p>
          <a:p>
            <a:r>
              <a:rPr lang="en-IN" sz="2400" b="0" dirty="0">
                <a:latin typeface="+mn-lt"/>
              </a:rPr>
              <a:t>Extracts text from digitally generated and messy real-world documents </a:t>
            </a:r>
          </a:p>
          <a:p>
            <a:r>
              <a:rPr lang="en-IN" sz="2400" b="0" dirty="0">
                <a:latin typeface="+mn-lt"/>
              </a:rPr>
              <a:t>Handles formatting inconsistencies, scanned layouts, headers, and document noise </a:t>
            </a:r>
          </a:p>
          <a:p>
            <a:r>
              <a:rPr lang="en-IN" sz="2400" b="0" dirty="0">
                <a:latin typeface="+mn-lt"/>
              </a:rPr>
              <a:t>Preserves document structure and metadata for downstream processing </a:t>
            </a:r>
          </a:p>
          <a:p>
            <a:r>
              <a:rPr lang="en-IN" sz="2400" b="0" dirty="0">
                <a:latin typeface="+mn-lt"/>
              </a:rPr>
              <a:t>Creates a standardized document representation 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Output : Clean, structured legal document ready for clause-level analysis</a:t>
            </a:r>
          </a:p>
          <a:p>
            <a:endParaRPr lang="en-IN" sz="2400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3600" b="1" dirty="0">
                <a:solidFill>
                  <a:srgbClr val="1F4E79"/>
                </a:solidFill>
              </a:rPr>
              <a:t>Document Ingestion Engine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315FB02-DD75-ECDD-41BE-4FA36B8E44CD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B1B8B-941B-7418-B8E6-A0D1E9F6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AF0138-E8F4-2F71-F5EC-C9C54B4425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712613"/>
          </a:xfrm>
        </p:spPr>
        <p:txBody>
          <a:bodyPr/>
          <a:lstStyle/>
          <a:p>
            <a:pPr marL="0" indent="0">
              <a:buNone/>
            </a:pPr>
            <a:r>
              <a:rPr lang="en-IN" sz="2400" b="0" dirty="0">
                <a:latin typeface="+mn-lt"/>
              </a:rPr>
              <a:t>Breaks complex legal documents into meaningful, structured, and addressable clauses.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What it does :</a:t>
            </a:r>
          </a:p>
          <a:p>
            <a:r>
              <a:rPr lang="en-IN" sz="2400" b="0" dirty="0">
                <a:latin typeface="+mn-lt"/>
              </a:rPr>
              <a:t>Segments documents into individual clauses and sections </a:t>
            </a:r>
          </a:p>
          <a:p>
            <a:r>
              <a:rPr lang="en-IN" sz="2400" b="0" dirty="0">
                <a:latin typeface="+mn-lt"/>
              </a:rPr>
              <a:t>Identifies clause boundaries and hierarchical relationships </a:t>
            </a:r>
          </a:p>
          <a:p>
            <a:r>
              <a:rPr lang="en-IN" sz="2400" b="0" dirty="0">
                <a:latin typeface="+mn-lt"/>
              </a:rPr>
              <a:t>Classifies clauses into legal categories </a:t>
            </a:r>
          </a:p>
          <a:p>
            <a:r>
              <a:rPr lang="en-IN" sz="2400" b="0" dirty="0">
                <a:latin typeface="+mn-lt"/>
              </a:rPr>
              <a:t>Uses the CUAD 41-category taxonomy for training and validation </a:t>
            </a:r>
          </a:p>
          <a:p>
            <a:r>
              <a:rPr lang="en-IN" sz="2400" b="0" dirty="0">
                <a:latin typeface="+mn-lt"/>
              </a:rPr>
              <a:t>Assigns metadata such as clause type, position, and source document 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Output : Structured clause objects that can be searched, compared, and </a:t>
            </a:r>
            <a:r>
              <a:rPr lang="en-IN" sz="2400" b="0" dirty="0" err="1">
                <a:latin typeface="+mn-lt"/>
              </a:rPr>
              <a:t>analyzed</a:t>
            </a:r>
            <a:endParaRPr lang="en-IN" sz="2400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5BAD28-DCEE-43E7-FEF6-56AEE243E60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>
                <a:solidFill>
                  <a:srgbClr val="1F4E79"/>
                </a:solidFill>
              </a:rPr>
              <a:t>Clause Parser &amp; Classification Engine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627B4C-BBC5-912F-E63C-5359CDEE338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AC8B9A-89CF-DC89-0905-F4B74BB966FD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724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1DC88-F652-8732-FB43-AA32ED29B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1CC60E-E114-0392-FBAF-E95DA7FABC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712613"/>
          </a:xfrm>
        </p:spPr>
        <p:txBody>
          <a:bodyPr/>
          <a:lstStyle/>
          <a:p>
            <a:pPr marL="0" indent="0">
              <a:buNone/>
            </a:pPr>
            <a:r>
              <a:rPr lang="en-IN" sz="2400" b="0" dirty="0">
                <a:latin typeface="+mn-lt"/>
              </a:rPr>
              <a:t>Provides relevant legal context for intelligent clause analysis.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What it does :</a:t>
            </a:r>
          </a:p>
          <a:p>
            <a:r>
              <a:rPr lang="en-IN" sz="2400" b="0" dirty="0">
                <a:latin typeface="+mn-lt"/>
              </a:rPr>
              <a:t>Converts clauses into vector embeddings </a:t>
            </a:r>
          </a:p>
          <a:p>
            <a:r>
              <a:rPr lang="en-IN" sz="2400" b="0" dirty="0">
                <a:latin typeface="+mn-lt"/>
              </a:rPr>
              <a:t>Stores and indexes embeddings using </a:t>
            </a:r>
            <a:r>
              <a:rPr lang="en-IN" sz="2400" b="0" dirty="0" err="1">
                <a:latin typeface="+mn-lt"/>
              </a:rPr>
              <a:t>pgvector</a:t>
            </a:r>
            <a:r>
              <a:rPr lang="en-IN" sz="2400" b="0" dirty="0">
                <a:latin typeface="+mn-lt"/>
              </a:rPr>
              <a:t> </a:t>
            </a:r>
          </a:p>
          <a:p>
            <a:r>
              <a:rPr lang="en-IN" sz="2400" b="0" dirty="0">
                <a:latin typeface="+mn-lt"/>
              </a:rPr>
              <a:t>Retrieves semantically similar clauses from reference corpora </a:t>
            </a:r>
          </a:p>
          <a:p>
            <a:r>
              <a:rPr lang="en-IN" sz="2400" b="0" dirty="0">
                <a:latin typeface="+mn-lt"/>
              </a:rPr>
              <a:t>Supports multiple knowledge sources through one retrieval architecture </a:t>
            </a:r>
          </a:p>
          <a:p>
            <a:r>
              <a:rPr lang="en-IN" sz="2400" b="0" dirty="0">
                <a:latin typeface="+mn-lt"/>
              </a:rPr>
              <a:t>Supplies grounded context to the AI analysis engines 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Output : Relevant legal context for every clause being </a:t>
            </a:r>
            <a:r>
              <a:rPr lang="en-IN" sz="2400" b="0" dirty="0" err="1">
                <a:latin typeface="+mn-lt"/>
              </a:rPr>
              <a:t>analyzed</a:t>
            </a:r>
            <a:endParaRPr lang="en-IN" sz="2400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2E9439-CE3B-06FD-E546-54131D5A6E9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>
                <a:solidFill>
                  <a:srgbClr val="1F4E79"/>
                </a:solidFill>
              </a:rPr>
              <a:t>Retrieval &amp; Knowledge Layer (RAG)</a:t>
            </a:r>
            <a:endParaRPr lang="en-US" sz="3600" b="1" dirty="0">
              <a:solidFill>
                <a:srgbClr val="1F4E79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D29E63-128D-6A43-B48E-E049E87BE4C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30F8B3C-BCBC-1525-28D2-211E03AA959D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32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12FB9-6607-D46B-88F5-33E25A9F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FD7597-B638-589F-2DB5-9A8D9C9C1D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712613"/>
          </a:xfrm>
        </p:spPr>
        <p:txBody>
          <a:bodyPr/>
          <a:lstStyle/>
          <a:p>
            <a:pPr marL="0" indent="0">
              <a:buNone/>
            </a:pPr>
            <a:r>
              <a:rPr lang="en-IN" sz="2400" b="0" dirty="0">
                <a:latin typeface="+mn-lt"/>
              </a:rPr>
              <a:t>Identifies potentially risky, unusual, or </a:t>
            </a:r>
            <a:r>
              <a:rPr lang="en-IN" sz="2400" b="0" dirty="0" err="1">
                <a:latin typeface="+mn-lt"/>
              </a:rPr>
              <a:t>unfavorable</a:t>
            </a:r>
            <a:r>
              <a:rPr lang="en-IN" sz="2400" b="0" dirty="0">
                <a:latin typeface="+mn-lt"/>
              </a:rPr>
              <a:t> clauses in legal documents.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What it does : </a:t>
            </a:r>
          </a:p>
          <a:p>
            <a:r>
              <a:rPr lang="en-IN" sz="2400" b="0" dirty="0" err="1">
                <a:latin typeface="+mn-lt"/>
              </a:rPr>
              <a:t>Analyzes</a:t>
            </a:r>
            <a:r>
              <a:rPr lang="en-IN" sz="2400" b="0" dirty="0">
                <a:latin typeface="+mn-lt"/>
              </a:rPr>
              <a:t> each incoming clause against similar reference clauses </a:t>
            </a:r>
          </a:p>
          <a:p>
            <a:r>
              <a:rPr lang="en-IN" sz="2400" b="0" dirty="0">
                <a:latin typeface="+mn-lt"/>
              </a:rPr>
              <a:t>Detects deviations from standard legal language </a:t>
            </a:r>
          </a:p>
          <a:p>
            <a:r>
              <a:rPr lang="en-IN" sz="2400" b="0" dirty="0">
                <a:latin typeface="+mn-lt"/>
              </a:rPr>
              <a:t>Identifies potential red flags and unusual obligations </a:t>
            </a:r>
          </a:p>
          <a:p>
            <a:r>
              <a:rPr lang="en-IN" sz="2400" b="0" dirty="0">
                <a:latin typeface="+mn-lt"/>
              </a:rPr>
              <a:t>Generates grounded explanations for every risk flag </a:t>
            </a:r>
          </a:p>
          <a:p>
            <a:r>
              <a:rPr lang="en-IN" sz="2400" b="0" dirty="0">
                <a:latin typeface="+mn-lt"/>
              </a:rPr>
              <a:t>Explains why a clause is risky, rather than simply assigning a score 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Output : Clause-level risk flags with explainable reasoning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87A34-EA6C-31A5-2521-ECB0EC5ECA2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>
                <a:solidFill>
                  <a:srgbClr val="1F4E79"/>
                </a:solidFill>
              </a:rPr>
              <a:t>Risk Intelligence Engine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F89C9F-B065-65A9-7C35-477888F41E2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C5B3D3-7DBB-3F5D-EA3C-3C465C8F8195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306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FBDF4-C10E-B36C-FC1E-7654E78A0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22221B-1796-E7DA-BFCB-EBFE29DE3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712613"/>
          </a:xfrm>
        </p:spPr>
        <p:txBody>
          <a:bodyPr/>
          <a:lstStyle/>
          <a:p>
            <a:pPr marL="0" indent="0">
              <a:buNone/>
            </a:pPr>
            <a:r>
              <a:rPr lang="en-IN" sz="2400" b="0" dirty="0">
                <a:latin typeface="+mn-lt"/>
              </a:rPr>
              <a:t>Tracks how legal documents change over time.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What it does :</a:t>
            </a:r>
          </a:p>
          <a:p>
            <a:r>
              <a:rPr lang="en-IN" sz="2400" b="0" dirty="0">
                <a:latin typeface="+mn-lt"/>
              </a:rPr>
              <a:t>Collects and compares multiple versions of the same </a:t>
            </a:r>
            <a:r>
              <a:rPr lang="en-IN" sz="2400" b="0" dirty="0" err="1">
                <a:latin typeface="+mn-lt"/>
              </a:rPr>
              <a:t>ToS</a:t>
            </a:r>
            <a:r>
              <a:rPr lang="en-IN" sz="2400" b="0" dirty="0">
                <a:latin typeface="+mn-lt"/>
              </a:rPr>
              <a:t> or policy </a:t>
            </a:r>
          </a:p>
          <a:p>
            <a:r>
              <a:rPr lang="en-IN" sz="2400" b="0" dirty="0">
                <a:latin typeface="+mn-lt"/>
              </a:rPr>
              <a:t>Uses historical versions and archived snapshots </a:t>
            </a:r>
          </a:p>
          <a:p>
            <a:r>
              <a:rPr lang="en-IN" sz="2400" b="0" dirty="0">
                <a:latin typeface="+mn-lt"/>
              </a:rPr>
              <a:t>Performs clause-level comparison between versions </a:t>
            </a:r>
          </a:p>
          <a:p>
            <a:r>
              <a:rPr lang="en-IN" sz="2400" b="0" dirty="0">
                <a:latin typeface="+mn-lt"/>
              </a:rPr>
              <a:t>Detects additions, removals, and modifications </a:t>
            </a:r>
          </a:p>
          <a:p>
            <a:r>
              <a:rPr lang="en-IN" sz="2400" b="0" dirty="0">
                <a:latin typeface="+mn-lt"/>
              </a:rPr>
              <a:t>Summarizes cumulative changes in plain language 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Output : A timeline of meaningful legal and policy changes</a:t>
            </a:r>
          </a:p>
          <a:p>
            <a:pPr marL="0" indent="0">
              <a:buNone/>
            </a:pPr>
            <a:endParaRPr lang="en-IN" sz="2400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34DA8-19EC-5576-3DE9-EAE3BF5E97A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>
                <a:solidFill>
                  <a:srgbClr val="1F4E79"/>
                </a:solidFill>
              </a:rPr>
              <a:t>Policy &amp; Contract Drift Engine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DDA34A-07A9-A968-764F-47487D4C712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A4C356D-A857-1DFB-43F4-1646AB3BB7C9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037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BA228-B366-08FC-AC0D-307178A0E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ECE446-EC7C-5973-E372-146300E91A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712613"/>
          </a:xfrm>
        </p:spPr>
        <p:txBody>
          <a:bodyPr/>
          <a:lstStyle/>
          <a:p>
            <a:pPr marL="0" indent="0">
              <a:buNone/>
            </a:pPr>
            <a:r>
              <a:rPr lang="en-IN" sz="2400" b="0" dirty="0">
                <a:latin typeface="+mn-lt"/>
              </a:rPr>
              <a:t>Identifies which documents may be affected when regulations change.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What it does :</a:t>
            </a:r>
          </a:p>
          <a:p>
            <a:r>
              <a:rPr lang="en-IN" sz="2400" b="0" dirty="0">
                <a:latin typeface="+mn-lt"/>
              </a:rPr>
              <a:t>Maps clause categories to relevant regulations </a:t>
            </a:r>
          </a:p>
          <a:p>
            <a:r>
              <a:rPr lang="en-IN" sz="2400" b="0" dirty="0">
                <a:latin typeface="+mn-lt"/>
              </a:rPr>
              <a:t>Builds a dependency graph between documents, clauses, and regulations </a:t>
            </a:r>
          </a:p>
          <a:p>
            <a:r>
              <a:rPr lang="en-IN" sz="2400" b="0" dirty="0">
                <a:latin typeface="+mn-lt"/>
              </a:rPr>
              <a:t>Detects changes in regulatory requirements </a:t>
            </a:r>
          </a:p>
          <a:p>
            <a:r>
              <a:rPr lang="en-IN" sz="2400" b="0" dirty="0">
                <a:latin typeface="+mn-lt"/>
              </a:rPr>
              <a:t>Retrieves affected regulatory content </a:t>
            </a:r>
          </a:p>
          <a:p>
            <a:r>
              <a:rPr lang="en-IN" sz="2400" b="0" dirty="0">
                <a:latin typeface="+mn-lt"/>
              </a:rPr>
              <a:t>Identifies contracts and policies requiring review 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Output : A prioritized compliance review and impact-triage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F7F3CA-56C2-23F2-0A14-DED3D1CCAF8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>
                <a:solidFill>
                  <a:srgbClr val="1F4E79"/>
                </a:solidFill>
              </a:rPr>
              <a:t>Regulatory Ripple Engine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947A28-41A3-BEBF-469C-59DACBD055A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B74B121-4DE4-A450-363E-2E8F4A4D5C78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749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BDB4B-621E-BF6A-3489-565B998A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D9247E-D878-621D-9B55-3377BC7D52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712613"/>
          </a:xfrm>
        </p:spPr>
        <p:txBody>
          <a:bodyPr/>
          <a:lstStyle/>
          <a:p>
            <a:pPr marL="0" indent="0">
              <a:buNone/>
            </a:pPr>
            <a:r>
              <a:rPr lang="en-IN" sz="2400" b="0" dirty="0">
                <a:latin typeface="+mn-lt"/>
              </a:rPr>
              <a:t>Provides a single interface for interacting with all legal intelligence features.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Key Features :</a:t>
            </a:r>
          </a:p>
          <a:p>
            <a:r>
              <a:rPr lang="en-IN" sz="2400" b="0" dirty="0">
                <a:latin typeface="+mn-lt"/>
              </a:rPr>
              <a:t>Document Upload </a:t>
            </a:r>
          </a:p>
          <a:p>
            <a:r>
              <a:rPr lang="en-IN" sz="2400" b="0" dirty="0">
                <a:latin typeface="+mn-lt"/>
              </a:rPr>
              <a:t>Risk-Annotated Document Viewer </a:t>
            </a:r>
          </a:p>
          <a:p>
            <a:r>
              <a:rPr lang="en-IN" sz="2400" b="0" dirty="0">
                <a:latin typeface="+mn-lt"/>
              </a:rPr>
              <a:t>Clause-Level Risk Insights </a:t>
            </a:r>
          </a:p>
          <a:p>
            <a:r>
              <a:rPr lang="en-IN" sz="2400" b="0" dirty="0">
                <a:latin typeface="+mn-lt"/>
              </a:rPr>
              <a:t>Policy Change Timeline </a:t>
            </a:r>
          </a:p>
          <a:p>
            <a:r>
              <a:rPr lang="en-IN" sz="2400" b="0" dirty="0">
                <a:latin typeface="+mn-lt"/>
              </a:rPr>
              <a:t>Regulatory Ripple Alerts 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Output : A unified legal intelligence dashboard for faster document review and compliance monitoring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228D23-DEE9-92E3-87F3-F1C1BEB8649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>
                <a:solidFill>
                  <a:srgbClr val="1F4E79"/>
                </a:solidFill>
              </a:rPr>
              <a:t>Frontend &amp; User Experience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8FBFA8-022A-DEDC-F1BE-D207B29EBA6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C50E35-ED19-B792-70D2-DE3F0A5E1DC9}"/>
              </a:ext>
            </a:extLst>
          </p:cNvPr>
          <p:cNvSpPr txBox="1"/>
          <p:nvPr/>
        </p:nvSpPr>
        <p:spPr>
          <a:xfrm>
            <a:off x="2743200" y="57036"/>
            <a:ext cx="96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Contract Guardian : An AI System for Contract Risk Detection, Drift Tracking, and Ripple Mapping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764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1616</Words>
  <Application>Microsoft Office PowerPoint</Application>
  <PresentationFormat>Widescreen</PresentationFormat>
  <Paragraphs>175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Liya Elizabeth Raju</cp:lastModifiedBy>
  <cp:revision>22</cp:revision>
  <dcterms:created xsi:type="dcterms:W3CDTF">2024-05-13T10:33:11Z</dcterms:created>
  <dcterms:modified xsi:type="dcterms:W3CDTF">2026-09-11T03:54:56Z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