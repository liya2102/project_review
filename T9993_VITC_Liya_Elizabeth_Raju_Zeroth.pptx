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9F8"/>
    <a:srgbClr val="028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181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6AC99C4-0521-6688-A7D6-5115D411AA57}"/>
              </a:ext>
            </a:extLst>
          </p:cNvPr>
          <p:cNvSpPr/>
          <p:nvPr/>
        </p:nvSpPr>
        <p:spPr>
          <a:xfrm>
            <a:off x="392885" y="0"/>
            <a:ext cx="173419" cy="6858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A7D700-A3DF-92C6-04EB-76471595532F}"/>
              </a:ext>
            </a:extLst>
          </p:cNvPr>
          <p:cNvSpPr/>
          <p:nvPr/>
        </p:nvSpPr>
        <p:spPr>
          <a:xfrm>
            <a:off x="392885" y="3771034"/>
            <a:ext cx="5957454" cy="23067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41289B7-B42C-1131-A3B5-71751B075DC2}"/>
              </a:ext>
            </a:extLst>
          </p:cNvPr>
          <p:cNvSpPr/>
          <p:nvPr/>
        </p:nvSpPr>
        <p:spPr>
          <a:xfrm>
            <a:off x="8324759" y="3797879"/>
            <a:ext cx="2653236" cy="265833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77B2C48-D524-36B0-142C-04F8515961B8}"/>
              </a:ext>
            </a:extLst>
          </p:cNvPr>
          <p:cNvSpPr/>
          <p:nvPr/>
        </p:nvSpPr>
        <p:spPr>
          <a:xfrm>
            <a:off x="7920424" y="3505197"/>
            <a:ext cx="716973" cy="69272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DA3C89-D017-E05B-C3BE-51071716A676}"/>
              </a:ext>
            </a:extLst>
          </p:cNvPr>
          <p:cNvSpPr/>
          <p:nvPr/>
        </p:nvSpPr>
        <p:spPr>
          <a:xfrm>
            <a:off x="392884" y="353291"/>
            <a:ext cx="11629396" cy="124690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GUARDIAN: </a:t>
            </a:r>
            <a:r>
              <a:rPr lang="en-IN" sz="2400" b="1" dirty="0"/>
              <a:t>An AI System for Point-in-Time Contract Risk Detection, Longitudinal Drift Tracking, and Regulatory Change Ripple Mapping</a:t>
            </a:r>
            <a:r>
              <a:rPr lang="en-US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E75EFE-D15C-B970-5588-8D7DA72E8A4F}"/>
              </a:ext>
            </a:extLst>
          </p:cNvPr>
          <p:cNvSpPr/>
          <p:nvPr/>
        </p:nvSpPr>
        <p:spPr>
          <a:xfrm>
            <a:off x="392885" y="1731819"/>
            <a:ext cx="11629396" cy="124690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 COPILOT: A</a:t>
            </a:r>
            <a:r>
              <a:rPr lang="en-IN" sz="2400" b="1" dirty="0"/>
              <a:t>n Agentic AI System for Reconstructing Informal-Sector Income, Explainable Credit Scoring, and Autonomous Cash-Flow Management</a:t>
            </a:r>
            <a:endParaRPr lang="en-IN" sz="24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497DE8-CD16-D574-BD80-E6DD1D52AA95}"/>
              </a:ext>
            </a:extLst>
          </p:cNvPr>
          <p:cNvSpPr/>
          <p:nvPr/>
        </p:nvSpPr>
        <p:spPr>
          <a:xfrm>
            <a:off x="10475768" y="3867152"/>
            <a:ext cx="1272888" cy="12469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FEBD90-56B1-ACF7-9E6D-032BA5583A2C}"/>
              </a:ext>
            </a:extLst>
          </p:cNvPr>
          <p:cNvSpPr/>
          <p:nvPr/>
        </p:nvSpPr>
        <p:spPr>
          <a:xfrm>
            <a:off x="11216986" y="5605895"/>
            <a:ext cx="408710" cy="401782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94CB5C8-9F2C-E098-F98A-5DBF1A00B083}"/>
              </a:ext>
            </a:extLst>
          </p:cNvPr>
          <p:cNvSpPr/>
          <p:nvPr/>
        </p:nvSpPr>
        <p:spPr>
          <a:xfrm>
            <a:off x="10977995" y="6042313"/>
            <a:ext cx="361950" cy="3255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D1AD65-3088-43DD-8B7B-90CD5727C62E}"/>
              </a:ext>
            </a:extLst>
          </p:cNvPr>
          <p:cNvSpPr/>
          <p:nvPr/>
        </p:nvSpPr>
        <p:spPr>
          <a:xfrm>
            <a:off x="10550236" y="3429000"/>
            <a:ext cx="214746" cy="249382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AutoShape 2" descr="Contract Images - Free Download on Magnific (formerly Freepik)">
            <a:extLst>
              <a:ext uri="{FF2B5EF4-FFF2-40B4-BE49-F238E27FC236}">
                <a16:creationId xmlns:a16="http://schemas.microsoft.com/office/drawing/2014/main" id="{E11FF8C0-5F8A-39A9-3457-060B4167CF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289463" cy="2289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AA5113-1AFC-67F7-6D90-07BF2C361AEF}"/>
              </a:ext>
            </a:extLst>
          </p:cNvPr>
          <p:cNvSpPr txBox="1"/>
          <p:nvPr/>
        </p:nvSpPr>
        <p:spPr>
          <a:xfrm>
            <a:off x="658001" y="4324259"/>
            <a:ext cx="392556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NAME          : Liya Elizabeth Raju (T9993)</a:t>
            </a:r>
          </a:p>
          <a:p>
            <a:r>
              <a:rPr lang="en-GB" dirty="0"/>
              <a:t>COLLEGE     : VIT Chennai</a:t>
            </a:r>
          </a:p>
          <a:p>
            <a:r>
              <a:rPr lang="en-GB" dirty="0"/>
              <a:t>ROLL NO     : 25MML1009</a:t>
            </a:r>
          </a:p>
          <a:p>
            <a:r>
              <a:rPr lang="en-GB" dirty="0"/>
              <a:t>PROGRAM  : </a:t>
            </a:r>
            <a:r>
              <a:rPr lang="en-GB" dirty="0" err="1"/>
              <a:t>M.Tech</a:t>
            </a:r>
            <a:r>
              <a:rPr lang="en-GB" dirty="0"/>
              <a:t> AI &amp; ML</a:t>
            </a:r>
            <a:endParaRPr lang="en-IN" dirty="0"/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8DE74D-5708-E340-1832-2745AD49FC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021"/>
          <a:stretch>
            <a:fillRect/>
          </a:stretch>
        </p:blipFill>
        <p:spPr>
          <a:xfrm>
            <a:off x="5031921" y="4421330"/>
            <a:ext cx="3605476" cy="202778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8B2525-C808-F8AA-1E68-0BBDACE8A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358" y="3915206"/>
            <a:ext cx="2378741" cy="242368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831279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· CONTRACT GUARDIAN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3897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000" b="1" dirty="0"/>
              <a:t>An AI System for Point-in-Time Contract Risk Detection, Longitudinal Drift Tracking, and Regulatory Change Ripple Mapping</a:t>
            </a:r>
            <a:endParaRPr lang="en-IN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42476"/>
            <a:ext cx="11247120" cy="0"/>
          </a:xfrm>
          <a:prstGeom prst="line">
            <a:avLst/>
          </a:prstGeom>
          <a:noFill/>
          <a:ln w="19050">
            <a:solidFill>
              <a:srgbClr val="EAF3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89364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1489364"/>
            <a:ext cx="310896" cy="310896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14619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00844"/>
            <a:ext cx="5074920" cy="1691640"/>
          </a:xfrm>
          <a:prstGeom prst="roundRect">
            <a:avLst>
              <a:gd name="adj" fmla="val 432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85800" y="2038004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Freelancers, SMBs, and small legal teams sign and manage contracts without in-house legal review. They can't spot risky or unusual clauses, miss quiet ToS/privacy changes over time, and have no way to know which agreements are affected when regulations change.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75364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57200" y="3775364"/>
            <a:ext cx="310896" cy="310896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37479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4232564"/>
            <a:ext cx="82296" cy="82296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76656" y="4150268"/>
            <a:ext cx="4855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risky clauses  </a:t>
            </a:r>
            <a:r>
              <a:rPr lang="en-US" sz="14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 curated standard-clause database, with grounded explanations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826924"/>
            <a:ext cx="82296" cy="82296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76656" y="4744628"/>
            <a:ext cx="4855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policy drift  </a:t>
            </a:r>
            <a:r>
              <a:rPr lang="en-US" sz="14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cumulative ToS/privacy changes in plain language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5421284"/>
            <a:ext cx="82296" cy="82296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76656" y="5338988"/>
            <a:ext cx="4855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regulation impact </a:t>
            </a:r>
            <a:r>
              <a:rPr lang="en-US" sz="14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list of affected documents and why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6015644"/>
            <a:ext cx="82296" cy="82296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76656" y="5933348"/>
            <a:ext cx="4855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descriptive, not prescriptive  </a:t>
            </a:r>
            <a:r>
              <a:rPr lang="en-US" sz="14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"flagged for review," never a compliance verdict — avoids UPL risk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06440" y="1489364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5806440" y="1489364"/>
            <a:ext cx="310896" cy="310896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27064" y="1461932"/>
            <a:ext cx="5477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213409"/>
              </p:ext>
            </p:extLst>
          </p:nvPr>
        </p:nvGraphicFramePr>
        <p:xfrm>
          <a:off x="5836920" y="3022938"/>
          <a:ext cx="5897880" cy="3604119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8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18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Clause DB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(Risk Highlighter)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Curated, labeled standard &amp; red-flag clauses — embedded in pgvector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Clause-level risk comparison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18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Versions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(Drift Tracker)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Wayback Machine snapshots of ToS/privacy pages, parsed into clause units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Version-over-version diffing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18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Corpus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(Ripple Mapper)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scoped sources (gazette RSS / legal-tracking API), one jurisdiction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Regulation-to-document mapping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11658600" y="64911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29913C-4865-6B7E-E282-D5E9C78E4807}"/>
              </a:ext>
            </a:extLst>
          </p:cNvPr>
          <p:cNvSpPr txBox="1"/>
          <p:nvPr/>
        </p:nvSpPr>
        <p:spPr>
          <a:xfrm>
            <a:off x="5836920" y="1855899"/>
            <a:ext cx="3359766" cy="227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Contract Understanding Atticus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CLAUDETTE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India's DPDP 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Consumer Protection Laws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sz="14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· CONTRACT GUARDIAN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719051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000" b="1" dirty="0"/>
              <a:t>An AI System for Point-in-Time Contract Risk Detection, Longitudinal Drift Tracking, and Regulatory Change Ripple Mapping</a:t>
            </a:r>
            <a:endParaRPr lang="en-IN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505435"/>
            <a:ext cx="11247120" cy="0"/>
          </a:xfrm>
          <a:prstGeom prst="line">
            <a:avLst/>
          </a:prstGeom>
          <a:noFill/>
          <a:ln w="19050">
            <a:solidFill>
              <a:srgbClr val="EAF3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752323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1752323"/>
            <a:ext cx="310896" cy="310896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1724891"/>
            <a:ext cx="6345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Stack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82091"/>
            <a:ext cx="6766560" cy="4251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94360" y="2182091"/>
            <a:ext cx="17830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2423160" y="2182091"/>
            <a:ext cx="46634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TypeScript, Tailwind CSS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607287"/>
            <a:ext cx="17830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2423160" y="2607287"/>
            <a:ext cx="46634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(FastAPI)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32483"/>
            <a:ext cx="6766560" cy="4251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94360" y="3032483"/>
            <a:ext cx="17830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2423160" y="3032483"/>
            <a:ext cx="46634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/ PyMuPDF, python-docx, BeautifulSoup, 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457679"/>
            <a:ext cx="17830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Parsing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2423160" y="3457679"/>
            <a:ext cx="46634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/ regex + fine-tuned transformer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882875"/>
            <a:ext cx="6766560" cy="4251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594360" y="3882875"/>
            <a:ext cx="17830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Vector Store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2423160" y="3882875"/>
            <a:ext cx="46634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text-embedding-3-small; PostgreSQL + pgvector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4308071"/>
            <a:ext cx="17830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2423160" y="4308071"/>
            <a:ext cx="46634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/>
              <a:t>Llama</a:t>
            </a:r>
          </a:p>
        </p:txBody>
      </p:sp>
      <p:sp>
        <p:nvSpPr>
          <p:cNvPr id="23" name="Shape 21"/>
          <p:cNvSpPr/>
          <p:nvPr/>
        </p:nvSpPr>
        <p:spPr>
          <a:xfrm>
            <a:off x="457200" y="4716919"/>
            <a:ext cx="6766560" cy="4251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594360" y="4716919"/>
            <a:ext cx="17830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/ Auth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2423160" y="4722737"/>
            <a:ext cx="46634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5153891"/>
            <a:ext cx="17830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2423160" y="5167884"/>
            <a:ext cx="46634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543800" y="1752323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7543800" y="1752323"/>
            <a:ext cx="310896" cy="310896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964424" y="1724891"/>
            <a:ext cx="3739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43800" y="2182091"/>
            <a:ext cx="4160520" cy="941832"/>
          </a:xfrm>
          <a:prstGeom prst="roundRect">
            <a:avLst>
              <a:gd name="adj" fmla="val 679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7708392" y="2351255"/>
            <a:ext cx="146304" cy="1463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7982712" y="2273531"/>
            <a:ext cx="35387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Risk Highlighter (MVP): clause-level flags with cited, grounded justifications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543800" y="3242795"/>
            <a:ext cx="4160520" cy="941832"/>
          </a:xfrm>
          <a:prstGeom prst="roundRect">
            <a:avLst>
              <a:gd name="adj" fmla="val 679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708392" y="3411959"/>
            <a:ext cx="146304" cy="1463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7982712" y="3334235"/>
            <a:ext cx="35387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Drift Tracker: plain-language summaries of ToS/policy change over time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543800" y="4303499"/>
            <a:ext cx="4160520" cy="941832"/>
          </a:xfrm>
          <a:prstGeom prst="roundRect">
            <a:avLst>
              <a:gd name="adj" fmla="val 679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708392" y="4472663"/>
            <a:ext cx="146304" cy="1463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7982712" y="4394939"/>
            <a:ext cx="35387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 Mapper architecture, extending the same RAG pipeline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543800" y="5364203"/>
            <a:ext cx="4160520" cy="941832"/>
          </a:xfrm>
          <a:prstGeom prst="roundRect">
            <a:avLst>
              <a:gd name="adj" fmla="val 679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7708392" y="5533367"/>
            <a:ext cx="146304" cy="1463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 txBox="1"/>
          <p:nvPr/>
        </p:nvSpPr>
        <p:spPr>
          <a:xfrm>
            <a:off x="7982712" y="5455643"/>
            <a:ext cx="35387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Demo-ready pitch: one shared architecture, three high-trust legal use cases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· CASHFLOW COPILOT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34815"/>
            <a:ext cx="11247120" cy="5486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r>
              <a:rPr lang="en-IN" sz="2000" b="1" dirty="0"/>
              <a:t>An Agentic AI System for Reconstructing Informal-Sector Income, Explainable Credit Scoring, and Autonomous Cash-Flow Management</a:t>
            </a:r>
            <a:endParaRPr lang="en-IN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38319"/>
            <a:ext cx="11247120" cy="0"/>
          </a:xfrm>
          <a:prstGeom prst="line">
            <a:avLst/>
          </a:prstGeom>
          <a:noFill/>
          <a:ln w="19050">
            <a:solidFill>
              <a:srgbClr val="EAF3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85207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1485207"/>
            <a:ext cx="310896" cy="310896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1457775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96687"/>
            <a:ext cx="5074920" cy="1417320"/>
          </a:xfrm>
          <a:prstGeom prst="roundRect">
            <a:avLst>
              <a:gd name="adj" fmla="val 516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85800" y="2033847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Informal-economy earners (gig workers, micro-retailers, traders) generate real income but are locked out of formal credit because it's untracked — scattered UPI transactions, cash logs, handwritten receipts. Rejections come with no explanation and no path forward.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496887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57200" y="3496887"/>
            <a:ext cx="310896" cy="310896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3469455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954087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76656" y="3871791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income  </a:t>
            </a:r>
            <a:r>
              <a:rPr lang="en-US" sz="14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messy UPI exports, bank PDFs, sales logs into a structured profile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54512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76656" y="4462826"/>
            <a:ext cx="4855464" cy="5029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credit score  </a:t>
            </a:r>
            <a:r>
              <a:rPr lang="en-US" sz="14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SHAP-based, per-factor reasons + improvement roadmap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5136157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76656" y="5053861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cash flow daily  </a:t>
            </a:r>
            <a:r>
              <a:rPr lang="en-US" sz="14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Receivables Chaser agent, orchestrated for future Forecaster/Negotiator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5730517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76656" y="5648221"/>
            <a:ext cx="4855464" cy="5029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 trust, not just accuracy  </a:t>
            </a:r>
            <a:r>
              <a:rPr lang="en-US" sz="14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models, human approval on money/client actions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06440" y="1485207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5806440" y="1485207"/>
            <a:ext cx="310896" cy="310896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227064" y="1457775"/>
            <a:ext cx="5477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355215"/>
              </p:ext>
            </p:extLst>
          </p:nvPr>
        </p:nvGraphicFramePr>
        <p:xfrm>
          <a:off x="5836920" y="2818709"/>
          <a:ext cx="5897880" cy="3380508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4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(Generated)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4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UPI / mobile money exports 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upload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income signal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4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statement PDFs 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+ OCR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Cross-validation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4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 sales logs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entry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Cash-only businesses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4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receipts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 / OCR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C73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&amp; seasonality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4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94250B-E1A0-D69F-2FF8-C81B56A1FB69}"/>
              </a:ext>
            </a:extLst>
          </p:cNvPr>
          <p:cNvSpPr txBox="1"/>
          <p:nvPr/>
        </p:nvSpPr>
        <p:spPr>
          <a:xfrm>
            <a:off x="5836920" y="1896687"/>
            <a:ext cx="230114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UPI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Bank Statements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Home Credit Default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· CASHFLOW COPILOT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000" b="1" dirty="0"/>
              <a:t>An Agentic AI System for Reconstructing Informal-Sector Income, Explainable Credit Scoring, and Autonomous Cash-Flow Management</a:t>
            </a:r>
            <a:endParaRPr lang="en-IN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11247120" cy="0"/>
          </a:xfrm>
          <a:prstGeom prst="line">
            <a:avLst/>
          </a:prstGeom>
          <a:noFill/>
          <a:ln w="19050">
            <a:solidFill>
              <a:srgbClr val="EAF3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72184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1472184"/>
            <a:ext cx="310896" cy="310896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1444752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Stack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29384"/>
            <a:ext cx="5394960" cy="5669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94360" y="192938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2057400" y="192938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PostgreSQL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49631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2057400" y="24963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SHAP 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5394960" cy="5669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94360" y="30632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2057400" y="30632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6301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2057400" y="36301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/ CrewAI — orchestrated, tiered autonomy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182410"/>
            <a:ext cx="5394960" cy="5669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92420" y="4172435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2057400" y="4189753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5404104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457200" y="5404104"/>
            <a:ext cx="310896" cy="310896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77824" y="5376672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Pipeline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5833872"/>
            <a:ext cx="969264" cy="457200"/>
          </a:xfrm>
          <a:prstGeom prst="roundRect">
            <a:avLst>
              <a:gd name="adj" fmla="val 12000"/>
            </a:avLst>
          </a:prstGeom>
          <a:solidFill>
            <a:srgbClr val="EAF3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457200" y="5833872"/>
            <a:ext cx="969264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1408176" y="5833872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508760" y="5833872"/>
            <a:ext cx="969264" cy="457200"/>
          </a:xfrm>
          <a:prstGeom prst="roundRect">
            <a:avLst>
              <a:gd name="adj" fmla="val 12000"/>
            </a:avLst>
          </a:prstGeom>
          <a:solidFill>
            <a:srgbClr val="EAF3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1508760" y="5833872"/>
            <a:ext cx="969264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2459736" y="5833872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0" y="5833872"/>
            <a:ext cx="969264" cy="457200"/>
          </a:xfrm>
          <a:prstGeom prst="roundRect">
            <a:avLst>
              <a:gd name="adj" fmla="val 12000"/>
            </a:avLst>
          </a:prstGeom>
          <a:solidFill>
            <a:srgbClr val="EAF3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2560320" y="5833872"/>
            <a:ext cx="969264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3511296" y="5833872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11880" y="5833872"/>
            <a:ext cx="969264" cy="457200"/>
          </a:xfrm>
          <a:prstGeom prst="roundRect">
            <a:avLst>
              <a:gd name="adj" fmla="val 12000"/>
            </a:avLst>
          </a:prstGeom>
          <a:solidFill>
            <a:srgbClr val="EAF3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3611880" y="5833872"/>
            <a:ext cx="969264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4562856" y="5833872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5833872"/>
            <a:ext cx="969264" cy="457200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4663440" y="5833872"/>
            <a:ext cx="969264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263640" y="1472184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6263640" y="1472184"/>
            <a:ext cx="310896" cy="310896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684264" y="1444752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63640" y="1901952"/>
            <a:ext cx="5440680" cy="841248"/>
          </a:xfrm>
          <a:prstGeom prst="roundRect">
            <a:avLst>
              <a:gd name="adj" fmla="val 760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428232" y="2057400"/>
            <a:ext cx="146304" cy="1463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 txBox="1"/>
          <p:nvPr/>
        </p:nvSpPr>
        <p:spPr>
          <a:xfrm>
            <a:off x="6702552" y="1956816"/>
            <a:ext cx="4818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upload → income profile → explainable score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263640" y="2834640"/>
            <a:ext cx="5440680" cy="841248"/>
          </a:xfrm>
          <a:prstGeom prst="roundRect">
            <a:avLst>
              <a:gd name="adj" fmla="val 760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428232" y="2990088"/>
            <a:ext cx="146304" cy="1463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 txBox="1"/>
          <p:nvPr/>
        </p:nvSpPr>
        <p:spPr>
          <a:xfrm>
            <a:off x="6702552" y="2889504"/>
            <a:ext cx="4818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Auditable, regulator-friendly scorecard,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263640" y="3767328"/>
            <a:ext cx="5440680" cy="841248"/>
          </a:xfrm>
          <a:prstGeom prst="roundRect">
            <a:avLst>
              <a:gd name="adj" fmla="val 760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6428232" y="3922776"/>
            <a:ext cx="146304" cy="1463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 txBox="1"/>
          <p:nvPr/>
        </p:nvSpPr>
        <p:spPr>
          <a:xfrm>
            <a:off x="6702552" y="3822192"/>
            <a:ext cx="4818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Functioning Receivables Chaser agent with a human-approval gate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263640" y="4700016"/>
            <a:ext cx="5440680" cy="841248"/>
          </a:xfrm>
          <a:prstGeom prst="roundRect">
            <a:avLst>
              <a:gd name="adj" fmla="val 760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428232" y="4855464"/>
            <a:ext cx="146304" cy="1463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 txBox="1"/>
          <p:nvPr/>
        </p:nvSpPr>
        <p:spPr>
          <a:xfrm>
            <a:off x="6702552" y="4754880"/>
            <a:ext cx="4818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data spine — low marginal cost to add Forecaster / Negotiator later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679</Words>
  <Application>Microsoft Office PowerPoint</Application>
  <PresentationFormat>Widescreen</PresentationFormat>
  <Paragraphs>137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Liya Elizabeth Raju</cp:lastModifiedBy>
  <cp:revision>12</cp:revision>
  <dcterms:created xsi:type="dcterms:W3CDTF">2026-08-27T16:32:45Z</dcterms:created>
  <dcterms:modified xsi:type="dcterms:W3CDTF">2026-08-28T04:32:13Z</dcterms:modified>
</cp:coreProperties>
</file>