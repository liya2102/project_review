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147470489" r:id="rId2"/>
    <p:sldId id="2147470492" r:id="rId3"/>
    <p:sldId id="2147470493" r:id="rId4"/>
    <p:sldId id="2147470494" r:id="rId5"/>
    <p:sldId id="2147470495" r:id="rId6"/>
    <p:sldId id="2147470498" r:id="rId7"/>
    <p:sldId id="2147470499" r:id="rId8"/>
    <p:sldId id="2147470496" r:id="rId9"/>
    <p:sldId id="2147470497" r:id="rId10"/>
    <p:sldId id="2147470500" r:id="rId11"/>
    <p:sldId id="2147470506" r:id="rId12"/>
    <p:sldId id="2147470491" r:id="rId13"/>
    <p:sldId id="2147470487" r:id="rId14"/>
    <p:sldId id="2147470501" r:id="rId15"/>
    <p:sldId id="2147470502" r:id="rId16"/>
    <p:sldId id="2147470503" r:id="rId17"/>
    <p:sldId id="2147470504" r:id="rId18"/>
    <p:sldId id="214747050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1F4E79"/>
    <a:srgbClr val="FFFFFF"/>
    <a:srgbClr val="25B9ED"/>
    <a:srgbClr val="47BDAE"/>
    <a:srgbClr val="30BBDA"/>
    <a:srgbClr val="47BDAF"/>
    <a:srgbClr val="696969"/>
    <a:srgbClr val="1C4D98"/>
    <a:srgbClr val="8BC4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78" y="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817A58-0D0C-430B-AC35-2DE8B6B3584B}" type="datetimeFigureOut">
              <a:rPr lang="en-IN" smtClean="0"/>
              <a:t>11-09-2026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EB791B-2D18-4343-B87F-C5F130BCFEEC}" type="slidenum">
              <a:rPr lang="en-IN" smtClean="0"/>
              <a:t>‹#›</a:t>
            </a:fld>
            <a:endParaRPr lang="en-IN"/>
          </a:p>
        </p:txBody>
      </p:sp>
    </p:spTree>
    <p:extLst>
      <p:ext uri="{BB962C8B-B14F-4D97-AF65-F5344CB8AC3E}">
        <p14:creationId xmlns:p14="http://schemas.microsoft.com/office/powerpoint/2010/main" val="1685007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4EB791B-2D18-4343-B87F-C5F130BCFEEC}" type="slidenum">
              <a:rPr lang="en-IN" smtClean="0"/>
              <a:t>1</a:t>
            </a:fld>
            <a:endParaRPr lang="en-IN"/>
          </a:p>
        </p:txBody>
      </p:sp>
    </p:spTree>
    <p:extLst>
      <p:ext uri="{BB962C8B-B14F-4D97-AF65-F5344CB8AC3E}">
        <p14:creationId xmlns:p14="http://schemas.microsoft.com/office/powerpoint/2010/main" val="4026543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Week</a:t>
            </a:r>
          </a:p>
          <a:p>
            <a:r>
              <a:rPr lang="en-IN" dirty="0"/>
              <a:t>Focus</a:t>
            </a:r>
          </a:p>
          <a:p>
            <a:r>
              <a:rPr lang="en-IN" dirty="0"/>
              <a:t>Key Deliverables</a:t>
            </a:r>
          </a:p>
          <a:p>
            <a:r>
              <a:rPr lang="en-IN" b="1" dirty="0"/>
              <a:t>Week 1</a:t>
            </a:r>
            <a:r>
              <a:rPr lang="en-IN" dirty="0"/>
              <a:t>Data Spine + Income </a:t>
            </a:r>
            <a:r>
              <a:rPr lang="en-IN" dirty="0" err="1"/>
              <a:t>ReconstructionParsers</a:t>
            </a:r>
            <a:r>
              <a:rPr lang="en-IN" dirty="0"/>
              <a:t> for UPI/mobile-money exports &amp; bank PDFs; unified transaction schema; literature review + research-gap writeup; defined objectives/scope (</a:t>
            </a:r>
            <a:r>
              <a:rPr lang="en-IN" b="1" dirty="0"/>
              <a:t>Review 1 checkpoint</a:t>
            </a:r>
            <a:r>
              <a:rPr lang="en-IN" dirty="0"/>
              <a:t>)</a:t>
            </a:r>
          </a:p>
          <a:p>
            <a:r>
              <a:rPr lang="en-IN" b="1" dirty="0"/>
              <a:t>Week 2</a:t>
            </a:r>
            <a:r>
              <a:rPr lang="en-IN" dirty="0"/>
              <a:t>Income Reconstruction (complete) + </a:t>
            </a:r>
            <a:r>
              <a:rPr lang="en-IN" dirty="0" err="1"/>
              <a:t>EDAParsing</a:t>
            </a:r>
            <a:r>
              <a:rPr lang="en-IN" dirty="0"/>
              <a:t> extended to sales logs/inventory receipts; cleaning &amp; normalization; cash-flow/seasonality visualizations; initial findings documented</a:t>
            </a:r>
          </a:p>
          <a:p>
            <a:r>
              <a:rPr lang="en-IN" b="1" dirty="0"/>
              <a:t>Week 3</a:t>
            </a:r>
            <a:r>
              <a:rPr lang="en-IN" dirty="0"/>
              <a:t>Explainable Credit Scoring + Agent </a:t>
            </a:r>
            <a:r>
              <a:rPr lang="en-IN" dirty="0" err="1"/>
              <a:t>BuildRule</a:t>
            </a:r>
            <a:r>
              <a:rPr lang="en-IN" dirty="0"/>
              <a:t>-based scorecard live; </a:t>
            </a:r>
            <a:r>
              <a:rPr lang="en-IN" dirty="0" err="1"/>
              <a:t>XGBoost+SHAP</a:t>
            </a:r>
            <a:r>
              <a:rPr lang="en-IN" dirty="0"/>
              <a:t> running in shadow mode; Receivables Chaser agent + orchestrator built; WhatsApp/Twilio integration</a:t>
            </a:r>
          </a:p>
          <a:p>
            <a:r>
              <a:rPr lang="en-IN" b="1" dirty="0"/>
              <a:t>Week 4</a:t>
            </a:r>
            <a:r>
              <a:rPr lang="en-IN" dirty="0"/>
              <a:t>Integration, Approval Screen, </a:t>
            </a:r>
            <a:r>
              <a:rPr lang="en-IN" dirty="0" err="1"/>
              <a:t>DemoSingle</a:t>
            </a:r>
            <a:r>
              <a:rPr lang="en-IN" dirty="0"/>
              <a:t> human-approval screen wired to agent actions; React frontend integration; end-to-end testing; final demo &amp; documentation</a:t>
            </a:r>
          </a:p>
          <a:p>
            <a:endParaRPr lang="en-IN" dirty="0"/>
          </a:p>
        </p:txBody>
      </p:sp>
      <p:sp>
        <p:nvSpPr>
          <p:cNvPr id="4" name="Slide Number Placeholder 3"/>
          <p:cNvSpPr>
            <a:spLocks noGrp="1"/>
          </p:cNvSpPr>
          <p:nvPr>
            <p:ph type="sldNum" sz="quarter" idx="5"/>
          </p:nvPr>
        </p:nvSpPr>
        <p:spPr/>
        <p:txBody>
          <a:bodyPr/>
          <a:lstStyle/>
          <a:p>
            <a:fld id="{84EB791B-2D18-4343-B87F-C5F130BCFEEC}" type="slidenum">
              <a:rPr lang="en-IN" smtClean="0"/>
              <a:t>10</a:t>
            </a:fld>
            <a:endParaRPr lang="en-IN"/>
          </a:p>
        </p:txBody>
      </p:sp>
    </p:spTree>
    <p:extLst>
      <p:ext uri="{BB962C8B-B14F-4D97-AF65-F5344CB8AC3E}">
        <p14:creationId xmlns:p14="http://schemas.microsoft.com/office/powerpoint/2010/main" val="1874927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D3CE0-E03F-1C5E-183C-41B1899C85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216C7-5870-558A-2F9F-2838C8C13D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A2AB1A-212C-AF78-23DD-B2007FD02B7D}"/>
              </a:ext>
            </a:extLst>
          </p:cNvPr>
          <p:cNvSpPr>
            <a:spLocks noGrp="1"/>
          </p:cNvSpPr>
          <p:nvPr>
            <p:ph type="body" idx="1"/>
          </p:nvPr>
        </p:nvSpPr>
        <p:spPr/>
        <p:txBody>
          <a:bodyPr/>
          <a:lstStyle/>
          <a:p>
            <a:r>
              <a:rPr lang="en-IN" dirty="0"/>
              <a:t>Week</a:t>
            </a:r>
          </a:p>
          <a:p>
            <a:r>
              <a:rPr lang="en-IN" dirty="0"/>
              <a:t>Focus</a:t>
            </a:r>
          </a:p>
          <a:p>
            <a:r>
              <a:rPr lang="en-IN" dirty="0"/>
              <a:t>Key Deliverables</a:t>
            </a:r>
          </a:p>
          <a:p>
            <a:r>
              <a:rPr lang="en-IN" b="1" dirty="0"/>
              <a:t>Week 1</a:t>
            </a:r>
            <a:r>
              <a:rPr lang="en-IN" dirty="0"/>
              <a:t>Data Spine + Income </a:t>
            </a:r>
            <a:r>
              <a:rPr lang="en-IN" dirty="0" err="1"/>
              <a:t>ReconstructionParsers</a:t>
            </a:r>
            <a:r>
              <a:rPr lang="en-IN" dirty="0"/>
              <a:t> for UPI/mobile-money exports &amp; bank PDFs; unified transaction schema; literature review + research-gap writeup; defined objectives/scope (</a:t>
            </a:r>
            <a:r>
              <a:rPr lang="en-IN" b="1" dirty="0"/>
              <a:t>Review 1 checkpoint</a:t>
            </a:r>
            <a:r>
              <a:rPr lang="en-IN" dirty="0"/>
              <a:t>)</a:t>
            </a:r>
          </a:p>
          <a:p>
            <a:r>
              <a:rPr lang="en-IN" b="1" dirty="0"/>
              <a:t>Week 2</a:t>
            </a:r>
            <a:r>
              <a:rPr lang="en-IN" dirty="0"/>
              <a:t>Income Reconstruction (complete) + </a:t>
            </a:r>
            <a:r>
              <a:rPr lang="en-IN" dirty="0" err="1"/>
              <a:t>EDAParsing</a:t>
            </a:r>
            <a:r>
              <a:rPr lang="en-IN" dirty="0"/>
              <a:t> extended to sales logs/inventory receipts; cleaning &amp; normalization; cash-flow/seasonality visualizations; initial findings documented</a:t>
            </a:r>
          </a:p>
          <a:p>
            <a:r>
              <a:rPr lang="en-IN" b="1" dirty="0"/>
              <a:t>Week 3</a:t>
            </a:r>
            <a:r>
              <a:rPr lang="en-IN" dirty="0"/>
              <a:t>Explainable Credit Scoring + Agent </a:t>
            </a:r>
            <a:r>
              <a:rPr lang="en-IN" dirty="0" err="1"/>
              <a:t>BuildRule</a:t>
            </a:r>
            <a:r>
              <a:rPr lang="en-IN" dirty="0"/>
              <a:t>-based scorecard live; </a:t>
            </a:r>
            <a:r>
              <a:rPr lang="en-IN" dirty="0" err="1"/>
              <a:t>XGBoost+SHAP</a:t>
            </a:r>
            <a:r>
              <a:rPr lang="en-IN" dirty="0"/>
              <a:t> running in shadow mode; Receivables Chaser agent + orchestrator built; WhatsApp/Twilio integration</a:t>
            </a:r>
          </a:p>
          <a:p>
            <a:r>
              <a:rPr lang="en-IN" b="1" dirty="0"/>
              <a:t>Week 4</a:t>
            </a:r>
            <a:r>
              <a:rPr lang="en-IN" dirty="0"/>
              <a:t>Integration, Approval Screen, </a:t>
            </a:r>
            <a:r>
              <a:rPr lang="en-IN" dirty="0" err="1"/>
              <a:t>DemoSingle</a:t>
            </a:r>
            <a:r>
              <a:rPr lang="en-IN" dirty="0"/>
              <a:t> human-approval screen wired to agent actions; React frontend integration; end-to-end testing; final demo &amp; documentation</a:t>
            </a:r>
          </a:p>
          <a:p>
            <a:endParaRPr lang="en-IN" dirty="0"/>
          </a:p>
        </p:txBody>
      </p:sp>
      <p:sp>
        <p:nvSpPr>
          <p:cNvPr id="4" name="Slide Number Placeholder 3">
            <a:extLst>
              <a:ext uri="{FF2B5EF4-FFF2-40B4-BE49-F238E27FC236}">
                <a16:creationId xmlns:a16="http://schemas.microsoft.com/office/drawing/2014/main" id="{098A86EB-06EE-EA44-6E51-8CFBFB4FC95F}"/>
              </a:ext>
            </a:extLst>
          </p:cNvPr>
          <p:cNvSpPr>
            <a:spLocks noGrp="1"/>
          </p:cNvSpPr>
          <p:nvPr>
            <p:ph type="sldNum" sz="quarter" idx="5"/>
          </p:nvPr>
        </p:nvSpPr>
        <p:spPr/>
        <p:txBody>
          <a:bodyPr/>
          <a:lstStyle/>
          <a:p>
            <a:fld id="{84EB791B-2D18-4343-B87F-C5F130BCFEEC}" type="slidenum">
              <a:rPr lang="en-IN" smtClean="0"/>
              <a:t>11</a:t>
            </a:fld>
            <a:endParaRPr lang="en-IN"/>
          </a:p>
        </p:txBody>
      </p:sp>
    </p:spTree>
    <p:extLst>
      <p:ext uri="{BB962C8B-B14F-4D97-AF65-F5344CB8AC3E}">
        <p14:creationId xmlns:p14="http://schemas.microsoft.com/office/powerpoint/2010/main" val="3888176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4EB791B-2D18-4343-B87F-C5F130BCFEEC}" type="slidenum">
              <a:rPr lang="en-IN" smtClean="0"/>
              <a:t>16</a:t>
            </a:fld>
            <a:endParaRPr lang="en-IN"/>
          </a:p>
        </p:txBody>
      </p:sp>
    </p:spTree>
    <p:extLst>
      <p:ext uri="{BB962C8B-B14F-4D97-AF65-F5344CB8AC3E}">
        <p14:creationId xmlns:p14="http://schemas.microsoft.com/office/powerpoint/2010/main" val="2611509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5170646"/>
          </a:xfrm>
          <a:prstGeom prst="rect">
            <a:avLst/>
          </a:prstGeom>
          <a:noFill/>
        </p:spPr>
        <p:txBody>
          <a:bodyPr wrap="square">
            <a:spAutoFit/>
          </a:bodyPr>
          <a:lstStyle/>
          <a:p>
            <a:pPr algn="ctr"/>
            <a:r>
              <a:rPr lang="en-IN" sz="3600" b="1" dirty="0" err="1">
                <a:solidFill>
                  <a:schemeClr val="bg1"/>
                </a:solidFill>
              </a:rPr>
              <a:t>CashFlow</a:t>
            </a:r>
            <a:r>
              <a:rPr lang="en-IN" sz="3600" b="1" dirty="0">
                <a:solidFill>
                  <a:schemeClr val="bg1"/>
                </a:solidFill>
              </a:rPr>
              <a:t> Copilot :</a:t>
            </a:r>
          </a:p>
          <a:p>
            <a:pPr algn="ctr"/>
            <a:r>
              <a:rPr lang="en-IN" sz="3600" b="1" dirty="0">
                <a:solidFill>
                  <a:schemeClr val="bg1"/>
                </a:solidFill>
              </a:rPr>
              <a:t>An Agentic AI System for Reconstructing Informal-Sector Income, Explainable Credit Scoring, and Autonomous Cash-Flow Management</a:t>
            </a: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algn="ctr">
              <a:defRPr/>
            </a:pPr>
            <a:r>
              <a:rPr lang="en-US" sz="2400" b="1" dirty="0">
                <a:solidFill>
                  <a:prstClr val="white"/>
                </a:solidFill>
                <a:cs typeface="Calibri" panose="020F0502020204030204" pitchFamily="34" charset="0"/>
              </a:rPr>
              <a:t>LIYA ELIZABETH RAJU</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3"/>
          <a:stretch>
            <a:fillRect/>
          </a:stretch>
        </p:blipFill>
        <p:spPr>
          <a:xfrm>
            <a:off x="9775332" y="5852667"/>
            <a:ext cx="1987468" cy="847417"/>
          </a:xfrm>
          <a:prstGeom prst="rect">
            <a:avLst/>
          </a:prstGeom>
        </p:spPr>
      </p:pic>
      <p:pic>
        <p:nvPicPr>
          <p:cNvPr id="5" name="Picture 4">
            <a:extLst>
              <a:ext uri="{FF2B5EF4-FFF2-40B4-BE49-F238E27FC236}">
                <a16:creationId xmlns:a16="http://schemas.microsoft.com/office/drawing/2014/main" id="{17645498-336C-D251-5126-0041E0F38748}"/>
              </a:ext>
            </a:extLst>
          </p:cNvPr>
          <p:cNvPicPr>
            <a:picLocks noChangeAspect="1"/>
          </p:cNvPicPr>
          <p:nvPr/>
        </p:nvPicPr>
        <p:blipFill>
          <a:blip r:embed="rId4"/>
          <a:srcRect t="24202" b="25961"/>
          <a:stretch>
            <a:fillRect/>
          </a:stretch>
        </p:blipFill>
        <p:spPr>
          <a:xfrm>
            <a:off x="148893" y="5852667"/>
            <a:ext cx="2447521" cy="914823"/>
          </a:xfrm>
          <a:prstGeom prst="rect">
            <a:avLst/>
          </a:prstGeom>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19"/>
            <a:ext cx="10624338" cy="4142989"/>
          </a:xfrm>
        </p:spPr>
        <p:txBody>
          <a:bodyPr/>
          <a:lstStyle/>
          <a:p>
            <a:pPr marL="0" indent="0">
              <a:buNone/>
            </a:pPr>
            <a:r>
              <a:rPr lang="en-IN" sz="2400" b="0" dirty="0">
                <a:latin typeface="+mn-lt"/>
              </a:rPr>
              <a:t>Millions of gig workers, micro-retailers, and small traders generate real, consistent income — but that income is invisible to formal lenders. Their financial life runs through UPI transfers, cash sales, handwritten ledgers, and informal supplier credit, none of which conforms to the bank statements and credit-bureau records that conventional underwriting requires. </a:t>
            </a:r>
          </a:p>
          <a:p>
            <a:pPr marL="0" indent="0">
              <a:buNone/>
            </a:pPr>
            <a:r>
              <a:rPr lang="en-IN" sz="2400" b="0" dirty="0">
                <a:latin typeface="+mn-lt"/>
              </a:rPr>
              <a:t>As a result, they are rejected for loans not because they are high-risk, but because their financial activity was never captured in a machine-readable, verifiable form.</a:t>
            </a:r>
            <a:r>
              <a:rPr lang="en-IN" sz="2400" dirty="0"/>
              <a:t> </a:t>
            </a:r>
            <a:r>
              <a:rPr lang="en-IN" sz="2400" b="0" dirty="0">
                <a:latin typeface="+mn-lt"/>
              </a:rPr>
              <a:t>The problem isn't that this population is </a:t>
            </a:r>
            <a:r>
              <a:rPr lang="en-IN" sz="2400" b="0" dirty="0" err="1">
                <a:latin typeface="+mn-lt"/>
              </a:rPr>
              <a:t>unscoreable</a:t>
            </a:r>
            <a:r>
              <a:rPr lang="en-IN" sz="2400" b="0" dirty="0">
                <a:latin typeface="+mn-lt"/>
              </a:rPr>
              <a:t>; it's that no one has built a pipeline that turns their existing, messy financial signals into something a lender can trust and act on.</a:t>
            </a:r>
          </a:p>
          <a:p>
            <a:pPr marL="0" indent="0">
              <a:buNone/>
            </a:pPr>
            <a:endParaRPr lang="en-IN" sz="2400" b="0" dirty="0">
              <a:latin typeface="+mn-lt"/>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2933395" y="57036"/>
            <a:ext cx="9429293" cy="646331"/>
          </a:xfrm>
          <a:prstGeom prst="rect">
            <a:avLst/>
          </a:prstGeom>
          <a:noFill/>
        </p:spPr>
        <p:txBody>
          <a:bodyPr wrap="square" rtlCol="0">
            <a:spAutoFit/>
          </a:bodyPr>
          <a:lstStyle/>
          <a:p>
            <a:r>
              <a:rPr lang="en-IN" b="1" dirty="0" err="1">
                <a:solidFill>
                  <a:schemeClr val="bg1"/>
                </a:solidFill>
              </a:rPr>
              <a:t>CashFlow</a:t>
            </a:r>
            <a:r>
              <a:rPr lang="en-IN" b="1" dirty="0">
                <a:solidFill>
                  <a:schemeClr val="bg1"/>
                </a:solidFill>
              </a:rPr>
              <a:t> : An AI System for Reconstructing Income, Credit Scoring, and Cash-Flow Management</a:t>
            </a:r>
            <a:endParaRPr lang="en-IN" dirty="0">
              <a:solidFill>
                <a:schemeClr val="bg1"/>
              </a:solidFill>
            </a:endParaRPr>
          </a:p>
          <a:p>
            <a:pPr algn="r"/>
            <a:endParaRPr lang="en-US" dirty="0"/>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5" y="1271219"/>
            <a:ext cx="10826533" cy="4142989"/>
          </a:xfrm>
        </p:spPr>
        <p:txBody>
          <a:bodyPr/>
          <a:lstStyle/>
          <a:p>
            <a:pPr lvl="0"/>
            <a:r>
              <a:rPr lang="en-IN" sz="2400" b="0" dirty="0">
                <a:latin typeface="+mn-lt"/>
              </a:rPr>
              <a:t>Reconstruct a clean financial profile from fragmented, real-world sources — UPI/mobile-money exports, bank statement PDFs, informal sales logs, and inventory receipts.</a:t>
            </a:r>
          </a:p>
          <a:p>
            <a:pPr lvl="0"/>
            <a:r>
              <a:rPr lang="en-IN" sz="2400" b="0" dirty="0">
                <a:latin typeface="+mn-lt"/>
              </a:rPr>
              <a:t>Generate an explainable credit score that lenders can act on and applicants can understand, with per-factor reasoning (e.g., </a:t>
            </a:r>
            <a:r>
              <a:rPr lang="en-IN" sz="2400" b="0" i="1" dirty="0">
                <a:latin typeface="+mn-lt"/>
              </a:rPr>
              <a:t>"limited by irregular payments during monsoon — 3 more consistent months could add 20–30 points"</a:t>
            </a:r>
            <a:r>
              <a:rPr lang="en-IN" sz="2400" b="0" dirty="0">
                <a:latin typeface="+mn-lt"/>
              </a:rPr>
              <a:t>).</a:t>
            </a:r>
          </a:p>
          <a:p>
            <a:pPr lvl="0"/>
            <a:r>
              <a:rPr lang="en-IN" sz="2400" b="0" dirty="0">
                <a:latin typeface="+mn-lt"/>
              </a:rPr>
              <a:t>Protect the income stream day-to-day via one working agent that flags overdue payments and drafts reminders, with every client-facing action gated behind human approval.</a:t>
            </a: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 </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34C06C1-1F11-7A11-8DDE-74F9E4D61320}"/>
              </a:ext>
            </a:extLst>
          </p:cNvPr>
          <p:cNvSpPr txBox="1"/>
          <p:nvPr/>
        </p:nvSpPr>
        <p:spPr>
          <a:xfrm>
            <a:off x="2933395" y="57036"/>
            <a:ext cx="9429293" cy="646331"/>
          </a:xfrm>
          <a:prstGeom prst="rect">
            <a:avLst/>
          </a:prstGeom>
          <a:noFill/>
        </p:spPr>
        <p:txBody>
          <a:bodyPr wrap="square" rtlCol="0">
            <a:spAutoFit/>
          </a:bodyPr>
          <a:lstStyle/>
          <a:p>
            <a:r>
              <a:rPr lang="en-IN" b="1" dirty="0" err="1">
                <a:solidFill>
                  <a:schemeClr val="bg1"/>
                </a:solidFill>
              </a:rPr>
              <a:t>CashFlow</a:t>
            </a:r>
            <a:r>
              <a:rPr lang="en-IN" b="1" dirty="0">
                <a:solidFill>
                  <a:schemeClr val="bg1"/>
                </a:solidFill>
              </a:rPr>
              <a:t> : An AI System for Reconstructing Income, Credit Scoring, and Cash-Flow Management</a:t>
            </a:r>
            <a:endParaRPr lang="en-IN" dirty="0">
              <a:solidFill>
                <a:schemeClr val="bg1"/>
              </a:solidFill>
            </a:endParaRPr>
          </a:p>
          <a:p>
            <a:pPr algn="r"/>
            <a:endParaRPr lang="en-US" dirty="0"/>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6" y="1271219"/>
            <a:ext cx="10624338" cy="4142989"/>
          </a:xfrm>
        </p:spPr>
        <p:txBody>
          <a:bodyPr/>
          <a:lstStyle/>
          <a:p>
            <a:pPr lvl="0"/>
            <a:r>
              <a:rPr lang="en-IN" sz="2400" b="0" dirty="0">
                <a:latin typeface="+mn-lt"/>
              </a:rPr>
              <a:t>Income Reconstruction: Converts UPI records, bank statements, sales logs, and receipts into a structured financial profile. </a:t>
            </a:r>
          </a:p>
          <a:p>
            <a:pPr lvl="0"/>
            <a:r>
              <a:rPr lang="en-IN" sz="2400" b="0" dirty="0">
                <a:latin typeface="+mn-lt"/>
              </a:rPr>
              <a:t>Explainable Credit Scoring: Generates transparent credit scores with clear explanations and actionable recommendations. </a:t>
            </a:r>
          </a:p>
          <a:p>
            <a:pPr lvl="0"/>
            <a:r>
              <a:rPr lang="en-IN" sz="2400" b="0" dirty="0">
                <a:latin typeface="+mn-lt"/>
              </a:rPr>
              <a:t>Receivables Chaser Agent: Tracks pending payments and sends payment reminders with user approval. </a:t>
            </a:r>
          </a:p>
          <a:p>
            <a:pPr lvl="0"/>
            <a:r>
              <a:rPr lang="en-IN" sz="2400" b="0" dirty="0">
                <a:latin typeface="+mn-lt"/>
              </a:rPr>
              <a:t>Cash Flow Forecaster Agent: Predicts future income, expenses, cash shortages, and seasonal patterns. </a:t>
            </a:r>
          </a:p>
          <a:p>
            <a:pPr lvl="0"/>
            <a:r>
              <a:rPr lang="en-IN" sz="2400" b="0" dirty="0">
                <a:latin typeface="+mn-lt"/>
              </a:rPr>
              <a:t>Payment Terms Negotiator Agent: Recommends and assists with negotiating suitable payment terms. </a:t>
            </a:r>
          </a:p>
          <a:p>
            <a:pPr lvl="0"/>
            <a:r>
              <a:rPr lang="en-IN" sz="2400" b="0" dirty="0">
                <a:latin typeface="+mn-lt"/>
              </a:rPr>
              <a:t>Agent Orchestrator: Coordinates all three agents and delivers one unified recommendation to the user.</a:t>
            </a:r>
          </a:p>
          <a:p>
            <a:endParaRPr lang="en-IN" sz="2400" b="0" dirty="0">
              <a:latin typeface="+mn-lt"/>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Scope…. </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DDFF198-CE02-9E5E-3718-25EE16B7EE14}"/>
              </a:ext>
            </a:extLst>
          </p:cNvPr>
          <p:cNvSpPr txBox="1"/>
          <p:nvPr/>
        </p:nvSpPr>
        <p:spPr>
          <a:xfrm>
            <a:off x="2933395" y="57036"/>
            <a:ext cx="9429293" cy="646331"/>
          </a:xfrm>
          <a:prstGeom prst="rect">
            <a:avLst/>
          </a:prstGeom>
          <a:noFill/>
        </p:spPr>
        <p:txBody>
          <a:bodyPr wrap="square" rtlCol="0">
            <a:spAutoFit/>
          </a:bodyPr>
          <a:lstStyle/>
          <a:p>
            <a:r>
              <a:rPr lang="en-IN" b="1" dirty="0" err="1">
                <a:solidFill>
                  <a:schemeClr val="bg1"/>
                </a:solidFill>
              </a:rPr>
              <a:t>CashFlow</a:t>
            </a:r>
            <a:r>
              <a:rPr lang="en-IN" b="1" dirty="0">
                <a:solidFill>
                  <a:schemeClr val="bg1"/>
                </a:solidFill>
              </a:rPr>
              <a:t> : An AI System for Reconstructing Income, Credit Scoring, and Cash-Flow Management</a:t>
            </a:r>
            <a:endParaRPr lang="en-IN" dirty="0">
              <a:solidFill>
                <a:schemeClr val="bg1"/>
              </a:solidFill>
            </a:endParaRPr>
          </a:p>
          <a:p>
            <a:pPr algn="r"/>
            <a:endParaRPr lang="en-US" dirty="0"/>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69C03-8E92-54D7-6EE2-33DC2B5C67B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B433ECB-8EAD-0AB5-1D66-62BCF658AA2C}"/>
              </a:ext>
            </a:extLst>
          </p:cNvPr>
          <p:cNvSpPr>
            <a:spLocks noGrp="1"/>
          </p:cNvSpPr>
          <p:nvPr>
            <p:ph type="body" sz="quarter" idx="13"/>
          </p:nvPr>
        </p:nvSpPr>
        <p:spPr>
          <a:xfrm>
            <a:off x="255996" y="1271219"/>
            <a:ext cx="10624338" cy="4142989"/>
          </a:xfrm>
        </p:spPr>
        <p:txBody>
          <a:bodyPr/>
          <a:lstStyle/>
          <a:p>
            <a:pPr lvl="0"/>
            <a:r>
              <a:rPr lang="en-IN" sz="2400" b="0" dirty="0">
                <a:latin typeface="+mn-lt"/>
              </a:rPr>
              <a:t>Alternative-data credit scoring uses transaction history, spending </a:t>
            </a:r>
            <a:r>
              <a:rPr lang="en-IN" sz="2400" b="0" dirty="0" err="1">
                <a:latin typeface="+mn-lt"/>
              </a:rPr>
              <a:t>behavior</a:t>
            </a:r>
            <a:r>
              <a:rPr lang="en-IN" sz="2400" b="0" dirty="0">
                <a:latin typeface="+mn-lt"/>
              </a:rPr>
              <a:t>, and non-traditional financial data to assess thin-file borrowers. </a:t>
            </a:r>
          </a:p>
          <a:p>
            <a:pPr lvl="0"/>
            <a:r>
              <a:rPr lang="en-IN" sz="2400" b="0" dirty="0">
                <a:latin typeface="+mn-lt"/>
              </a:rPr>
              <a:t>Income reconstruction approaches infer stable income patterns from fragmented transaction records. </a:t>
            </a:r>
          </a:p>
          <a:p>
            <a:pPr lvl="0"/>
            <a:r>
              <a:rPr lang="en-IN" sz="2400" b="0" dirty="0">
                <a:latin typeface="+mn-lt"/>
              </a:rPr>
              <a:t>Explainable AI (XAI) methods such as SHAP improve transparency in financial and credit-risk predictions. </a:t>
            </a:r>
          </a:p>
          <a:p>
            <a:pPr lvl="0"/>
            <a:r>
              <a:rPr lang="en-IN" sz="2400" b="0" dirty="0">
                <a:latin typeface="+mn-lt"/>
              </a:rPr>
              <a:t>Limitation: Most systems provide a static credit assessment and do not continuously support the user's financial decisions.</a:t>
            </a:r>
          </a:p>
        </p:txBody>
      </p:sp>
      <p:sp>
        <p:nvSpPr>
          <p:cNvPr id="3" name="TextBox 2">
            <a:extLst>
              <a:ext uri="{FF2B5EF4-FFF2-40B4-BE49-F238E27FC236}">
                <a16:creationId xmlns:a16="http://schemas.microsoft.com/office/drawing/2014/main" id="{DAB3663C-4C71-EB2A-170D-22878BAC4C6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Literature Review…. </a:t>
            </a:r>
          </a:p>
        </p:txBody>
      </p:sp>
      <p:cxnSp>
        <p:nvCxnSpPr>
          <p:cNvPr id="5" name="Straight Connector 4">
            <a:extLst>
              <a:ext uri="{FF2B5EF4-FFF2-40B4-BE49-F238E27FC236}">
                <a16:creationId xmlns:a16="http://schemas.microsoft.com/office/drawing/2014/main" id="{B91B76A7-3EE1-470C-EBA7-8F98E8FFE105}"/>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67271B7-3F8C-AB0B-D438-1533A83A3ED0}"/>
              </a:ext>
            </a:extLst>
          </p:cNvPr>
          <p:cNvSpPr txBox="1"/>
          <p:nvPr/>
        </p:nvSpPr>
        <p:spPr>
          <a:xfrm>
            <a:off x="2933395" y="57036"/>
            <a:ext cx="9429293" cy="646331"/>
          </a:xfrm>
          <a:prstGeom prst="rect">
            <a:avLst/>
          </a:prstGeom>
          <a:noFill/>
        </p:spPr>
        <p:txBody>
          <a:bodyPr wrap="square" rtlCol="0">
            <a:spAutoFit/>
          </a:bodyPr>
          <a:lstStyle/>
          <a:p>
            <a:r>
              <a:rPr lang="en-IN" b="1" dirty="0" err="1">
                <a:solidFill>
                  <a:schemeClr val="bg1"/>
                </a:solidFill>
              </a:rPr>
              <a:t>CashFlow</a:t>
            </a:r>
            <a:r>
              <a:rPr lang="en-IN" b="1" dirty="0">
                <a:solidFill>
                  <a:schemeClr val="bg1"/>
                </a:solidFill>
              </a:rPr>
              <a:t> : An AI System for Reconstructing Income, Credit Scoring, and Cash-Flow Management</a:t>
            </a:r>
            <a:endParaRPr lang="en-IN" dirty="0">
              <a:solidFill>
                <a:schemeClr val="bg1"/>
              </a:solidFill>
            </a:endParaRPr>
          </a:p>
          <a:p>
            <a:pPr algn="r"/>
            <a:endParaRPr lang="en-US" dirty="0"/>
          </a:p>
        </p:txBody>
      </p:sp>
    </p:spTree>
    <p:extLst>
      <p:ext uri="{BB962C8B-B14F-4D97-AF65-F5344CB8AC3E}">
        <p14:creationId xmlns:p14="http://schemas.microsoft.com/office/powerpoint/2010/main" val="860765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664BA-9441-B088-3953-8F23FBC5C8B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DC41628-79ED-D24D-ADF3-06F20FC29B20}"/>
              </a:ext>
            </a:extLst>
          </p:cNvPr>
          <p:cNvSpPr>
            <a:spLocks noGrp="1"/>
          </p:cNvSpPr>
          <p:nvPr>
            <p:ph type="body" sz="quarter" idx="13"/>
          </p:nvPr>
        </p:nvSpPr>
        <p:spPr>
          <a:xfrm>
            <a:off x="255996" y="1271219"/>
            <a:ext cx="10624338" cy="4142989"/>
          </a:xfrm>
        </p:spPr>
        <p:txBody>
          <a:bodyPr/>
          <a:lstStyle/>
          <a:p>
            <a:pPr lvl="0"/>
            <a:r>
              <a:rPr lang="en-IN" sz="2400" b="0" dirty="0">
                <a:latin typeface="+mn-lt"/>
              </a:rPr>
              <a:t>ML and time-series approaches are widely used for income, expense, and liquidity forecasting. </a:t>
            </a:r>
          </a:p>
          <a:p>
            <a:pPr lvl="0"/>
            <a:r>
              <a:rPr lang="en-IN" sz="2400" b="0" dirty="0">
                <a:latin typeface="+mn-lt"/>
              </a:rPr>
              <a:t>Financial management systems provide cash-flow monitoring, payment tracking, and alerts. </a:t>
            </a:r>
          </a:p>
          <a:p>
            <a:pPr lvl="0"/>
            <a:r>
              <a:rPr lang="en-IN" sz="2400" b="0" dirty="0">
                <a:latin typeface="+mn-lt"/>
              </a:rPr>
              <a:t>These approaches can identify potential liquidity gaps but are generally implemented as standalone tools. </a:t>
            </a:r>
          </a:p>
          <a:p>
            <a:pPr lvl="0"/>
            <a:r>
              <a:rPr lang="en-IN" sz="2400" b="0" dirty="0">
                <a:latin typeface="+mn-lt"/>
              </a:rPr>
              <a:t>Limitation: Forecasting is rarely connected directly to credit scoring or automated corrective actions.</a:t>
            </a:r>
          </a:p>
        </p:txBody>
      </p:sp>
      <p:sp>
        <p:nvSpPr>
          <p:cNvPr id="3" name="TextBox 2">
            <a:extLst>
              <a:ext uri="{FF2B5EF4-FFF2-40B4-BE49-F238E27FC236}">
                <a16:creationId xmlns:a16="http://schemas.microsoft.com/office/drawing/2014/main" id="{73D2ED16-657E-AE12-A304-18B55D7832F4}"/>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Literature Review…. </a:t>
            </a:r>
          </a:p>
        </p:txBody>
      </p:sp>
      <p:cxnSp>
        <p:nvCxnSpPr>
          <p:cNvPr id="5" name="Straight Connector 4">
            <a:extLst>
              <a:ext uri="{FF2B5EF4-FFF2-40B4-BE49-F238E27FC236}">
                <a16:creationId xmlns:a16="http://schemas.microsoft.com/office/drawing/2014/main" id="{C1E29B25-944A-6664-0198-D9F0C69A6B5B}"/>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8C1B3F5-FC99-097A-9937-5D18353FDF1C}"/>
              </a:ext>
            </a:extLst>
          </p:cNvPr>
          <p:cNvSpPr txBox="1"/>
          <p:nvPr/>
        </p:nvSpPr>
        <p:spPr>
          <a:xfrm>
            <a:off x="2933395" y="57036"/>
            <a:ext cx="9429293" cy="646331"/>
          </a:xfrm>
          <a:prstGeom prst="rect">
            <a:avLst/>
          </a:prstGeom>
          <a:noFill/>
        </p:spPr>
        <p:txBody>
          <a:bodyPr wrap="square" rtlCol="0">
            <a:spAutoFit/>
          </a:bodyPr>
          <a:lstStyle/>
          <a:p>
            <a:r>
              <a:rPr lang="en-IN" b="1" dirty="0" err="1">
                <a:solidFill>
                  <a:schemeClr val="bg1"/>
                </a:solidFill>
              </a:rPr>
              <a:t>CashFlow</a:t>
            </a:r>
            <a:r>
              <a:rPr lang="en-IN" b="1" dirty="0">
                <a:solidFill>
                  <a:schemeClr val="bg1"/>
                </a:solidFill>
              </a:rPr>
              <a:t> : An AI System for Reconstructing Income, Credit Scoring, and Cash-Flow Management</a:t>
            </a:r>
            <a:endParaRPr lang="en-IN" dirty="0">
              <a:solidFill>
                <a:schemeClr val="bg1"/>
              </a:solidFill>
            </a:endParaRPr>
          </a:p>
          <a:p>
            <a:pPr algn="r"/>
            <a:endParaRPr lang="en-US" dirty="0"/>
          </a:p>
        </p:txBody>
      </p:sp>
    </p:spTree>
    <p:extLst>
      <p:ext uri="{BB962C8B-B14F-4D97-AF65-F5344CB8AC3E}">
        <p14:creationId xmlns:p14="http://schemas.microsoft.com/office/powerpoint/2010/main" val="3464469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B2557-D733-897E-E921-91E67C56157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5170206-BE71-7FC0-0363-95243918B4F7}"/>
              </a:ext>
            </a:extLst>
          </p:cNvPr>
          <p:cNvSpPr>
            <a:spLocks noGrp="1"/>
          </p:cNvSpPr>
          <p:nvPr>
            <p:ph type="body" sz="quarter" idx="13"/>
          </p:nvPr>
        </p:nvSpPr>
        <p:spPr>
          <a:xfrm>
            <a:off x="255996" y="1271219"/>
            <a:ext cx="10624338" cy="4142989"/>
          </a:xfrm>
        </p:spPr>
        <p:txBody>
          <a:bodyPr/>
          <a:lstStyle/>
          <a:p>
            <a:pPr lvl="0"/>
            <a:r>
              <a:rPr lang="en-IN" sz="2400" b="0" dirty="0">
                <a:latin typeface="+mn-lt"/>
              </a:rPr>
              <a:t>LLMs are increasingly used for financial analysis, advisory, risk assessment, and decision support. </a:t>
            </a:r>
          </a:p>
          <a:p>
            <a:pPr lvl="0"/>
            <a:r>
              <a:rPr lang="en-IN" sz="2400" b="0" dirty="0">
                <a:latin typeface="+mn-lt"/>
              </a:rPr>
              <a:t>Multi-agent systems divide financial tasks among specialized agents for analysis and recommendation generation. </a:t>
            </a:r>
          </a:p>
          <a:p>
            <a:pPr lvl="0"/>
            <a:r>
              <a:rPr lang="en-IN" sz="2400" b="0" dirty="0">
                <a:latin typeface="+mn-lt"/>
              </a:rPr>
              <a:t>Existing applications are predominantly focused on trading, investment, and portfolio management. </a:t>
            </a:r>
          </a:p>
          <a:p>
            <a:pPr lvl="0"/>
            <a:r>
              <a:rPr lang="en-IN" sz="2400" b="0" dirty="0">
                <a:latin typeface="+mn-lt"/>
              </a:rPr>
              <a:t>Limitation: Limited research targets informal-economy earners and small businesses with fragmented income and recurring liquidity problems.</a:t>
            </a:r>
          </a:p>
        </p:txBody>
      </p:sp>
      <p:sp>
        <p:nvSpPr>
          <p:cNvPr id="3" name="TextBox 2">
            <a:extLst>
              <a:ext uri="{FF2B5EF4-FFF2-40B4-BE49-F238E27FC236}">
                <a16:creationId xmlns:a16="http://schemas.microsoft.com/office/drawing/2014/main" id="{141FF518-F448-8824-97D1-E80F1E5BF77A}"/>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Literature Review…. </a:t>
            </a:r>
          </a:p>
        </p:txBody>
      </p:sp>
      <p:cxnSp>
        <p:nvCxnSpPr>
          <p:cNvPr id="5" name="Straight Connector 4">
            <a:extLst>
              <a:ext uri="{FF2B5EF4-FFF2-40B4-BE49-F238E27FC236}">
                <a16:creationId xmlns:a16="http://schemas.microsoft.com/office/drawing/2014/main" id="{F59EB19C-AE3B-A7FB-F829-D21E0E2EC9B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787E1B5-D031-4F86-88CF-59B4C41AE09D}"/>
              </a:ext>
            </a:extLst>
          </p:cNvPr>
          <p:cNvSpPr txBox="1"/>
          <p:nvPr/>
        </p:nvSpPr>
        <p:spPr>
          <a:xfrm>
            <a:off x="2933395" y="57036"/>
            <a:ext cx="9429293" cy="646331"/>
          </a:xfrm>
          <a:prstGeom prst="rect">
            <a:avLst/>
          </a:prstGeom>
          <a:noFill/>
        </p:spPr>
        <p:txBody>
          <a:bodyPr wrap="square" rtlCol="0">
            <a:spAutoFit/>
          </a:bodyPr>
          <a:lstStyle/>
          <a:p>
            <a:r>
              <a:rPr lang="en-IN" b="1" dirty="0" err="1">
                <a:solidFill>
                  <a:schemeClr val="bg1"/>
                </a:solidFill>
              </a:rPr>
              <a:t>CashFlow</a:t>
            </a:r>
            <a:r>
              <a:rPr lang="en-IN" b="1" dirty="0">
                <a:solidFill>
                  <a:schemeClr val="bg1"/>
                </a:solidFill>
              </a:rPr>
              <a:t> : An AI System for Reconstructing Income, Credit Scoring, and Cash-Flow Management</a:t>
            </a:r>
            <a:endParaRPr lang="en-IN" dirty="0">
              <a:solidFill>
                <a:schemeClr val="bg1"/>
              </a:solidFill>
            </a:endParaRPr>
          </a:p>
          <a:p>
            <a:pPr algn="r"/>
            <a:endParaRPr lang="en-US" dirty="0"/>
          </a:p>
        </p:txBody>
      </p:sp>
    </p:spTree>
    <p:extLst>
      <p:ext uri="{BB962C8B-B14F-4D97-AF65-F5344CB8AC3E}">
        <p14:creationId xmlns:p14="http://schemas.microsoft.com/office/powerpoint/2010/main" val="3576780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3C69-472F-A80F-ECBC-553E043DB9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64AF3A-1BAA-BB19-865F-8604C4E3B859}"/>
              </a:ext>
            </a:extLst>
          </p:cNvPr>
          <p:cNvSpPr>
            <a:spLocks noGrp="1"/>
          </p:cNvSpPr>
          <p:nvPr>
            <p:ph type="body" sz="quarter" idx="13"/>
          </p:nvPr>
        </p:nvSpPr>
        <p:spPr>
          <a:xfrm>
            <a:off x="255996" y="1645922"/>
            <a:ext cx="10624338" cy="3768286"/>
          </a:xfrm>
        </p:spPr>
        <p:txBody>
          <a:bodyPr/>
          <a:lstStyle/>
          <a:p>
            <a:pPr marL="0" indent="0">
              <a:buNone/>
            </a:pPr>
            <a:r>
              <a:rPr lang="en-IN" sz="2400" b="0" dirty="0">
                <a:latin typeface="+mn-lt"/>
              </a:rPr>
              <a:t>Alternative-data credit scoring uses transaction and </a:t>
            </a:r>
            <a:r>
              <a:rPr lang="en-IN" sz="2400" b="0" dirty="0" err="1">
                <a:latin typeface="+mn-lt"/>
              </a:rPr>
              <a:t>behavioral</a:t>
            </a:r>
            <a:r>
              <a:rPr lang="en-IN" sz="2400" b="0" dirty="0">
                <a:latin typeface="+mn-lt"/>
              </a:rPr>
              <a:t> data for thin-file borrowers, while income reconstruction and ML-based forecasting estimate earnings and predict cash-flow patterns. Explainable AI methods such as SHAP improve transparency. LLM-based multi-agent finance systems mainly focus on investment, trading, and financial analysis.</a:t>
            </a:r>
          </a:p>
          <a:p>
            <a:pPr marL="0" indent="0">
              <a:buNone/>
            </a:pPr>
            <a:r>
              <a:rPr lang="en-IN" sz="2400" b="0" dirty="0">
                <a:latin typeface="+mn-lt"/>
              </a:rPr>
              <a:t>These approaches largely operate independently and focus on static assessment or capital management. Limited work combines income reconstruction, explainable credit scoring, cash-flow forecasting, and proactive multi-agent intervention for informal earners and small businesses. </a:t>
            </a:r>
            <a:r>
              <a:rPr lang="en-IN" sz="2400" b="0" dirty="0" err="1">
                <a:latin typeface="+mn-lt"/>
              </a:rPr>
              <a:t>CashFlow</a:t>
            </a:r>
            <a:r>
              <a:rPr lang="en-IN" sz="2400" b="0" dirty="0">
                <a:latin typeface="+mn-lt"/>
              </a:rPr>
              <a:t> Copilot integrates these through a shared data spine with human-in-the-loop control.</a:t>
            </a:r>
            <a:endParaRPr lang="en-US" sz="2400" b="0" dirty="0">
              <a:solidFill>
                <a:srgbClr val="5583D1"/>
              </a:solidFill>
              <a:latin typeface="+mn-lt"/>
            </a:endParaRPr>
          </a:p>
        </p:txBody>
      </p:sp>
      <p:sp>
        <p:nvSpPr>
          <p:cNvPr id="3" name="TextBox 2">
            <a:extLst>
              <a:ext uri="{FF2B5EF4-FFF2-40B4-BE49-F238E27FC236}">
                <a16:creationId xmlns:a16="http://schemas.microsoft.com/office/drawing/2014/main" id="{C7C2521A-B8A4-7818-FEB4-0309182DBEC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Summary of Literature…. </a:t>
            </a:r>
          </a:p>
        </p:txBody>
      </p:sp>
      <p:cxnSp>
        <p:nvCxnSpPr>
          <p:cNvPr id="5" name="Straight Connector 4">
            <a:extLst>
              <a:ext uri="{FF2B5EF4-FFF2-40B4-BE49-F238E27FC236}">
                <a16:creationId xmlns:a16="http://schemas.microsoft.com/office/drawing/2014/main" id="{76871527-EAED-D60A-DB4D-12A2CE4201D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323056F-3532-EFFC-1E06-09A8A9563E42}"/>
              </a:ext>
            </a:extLst>
          </p:cNvPr>
          <p:cNvSpPr txBox="1"/>
          <p:nvPr/>
        </p:nvSpPr>
        <p:spPr>
          <a:xfrm>
            <a:off x="2933395" y="57036"/>
            <a:ext cx="9429293" cy="646331"/>
          </a:xfrm>
          <a:prstGeom prst="rect">
            <a:avLst/>
          </a:prstGeom>
          <a:noFill/>
        </p:spPr>
        <p:txBody>
          <a:bodyPr wrap="square" rtlCol="0">
            <a:spAutoFit/>
          </a:bodyPr>
          <a:lstStyle/>
          <a:p>
            <a:r>
              <a:rPr lang="en-IN" b="1" dirty="0" err="1">
                <a:solidFill>
                  <a:schemeClr val="bg1"/>
                </a:solidFill>
              </a:rPr>
              <a:t>CashFlow</a:t>
            </a:r>
            <a:r>
              <a:rPr lang="en-IN" b="1" dirty="0">
                <a:solidFill>
                  <a:schemeClr val="bg1"/>
                </a:solidFill>
              </a:rPr>
              <a:t> : An AI System for Reconstructing Income, Credit Scoring, and Cash-Flow Management</a:t>
            </a:r>
            <a:endParaRPr lang="en-IN" dirty="0">
              <a:solidFill>
                <a:schemeClr val="bg1"/>
              </a:solidFill>
            </a:endParaRPr>
          </a:p>
          <a:p>
            <a:pPr algn="r"/>
            <a:endParaRPr lang="en-US" dirty="0"/>
          </a:p>
        </p:txBody>
      </p:sp>
    </p:spTree>
    <p:extLst>
      <p:ext uri="{BB962C8B-B14F-4D97-AF65-F5344CB8AC3E}">
        <p14:creationId xmlns:p14="http://schemas.microsoft.com/office/powerpoint/2010/main" val="4084703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6" y="1271219"/>
            <a:ext cx="10624338" cy="4142989"/>
          </a:xfrm>
        </p:spPr>
        <p:txBody>
          <a:bodyPr/>
          <a:lstStyle/>
          <a:p>
            <a:pPr marL="0" indent="0">
              <a:buNone/>
            </a:pPr>
            <a:r>
              <a:rPr lang="en-US" sz="2400" dirty="0">
                <a:latin typeface="+mn-lt"/>
                <a:ea typeface="Calibri" pitchFamily="34" charset="-122"/>
                <a:cs typeface="Calibri" pitchFamily="34" charset="-120"/>
              </a:rPr>
              <a:t>DATA AQUISITION</a:t>
            </a:r>
          </a:p>
          <a:p>
            <a:r>
              <a:rPr lang="en-US" sz="2400" b="0" dirty="0">
                <a:latin typeface="+mn-lt"/>
                <a:ea typeface="Calibri" pitchFamily="34" charset="-122"/>
                <a:cs typeface="Calibri" pitchFamily="34" charset="-120"/>
              </a:rPr>
              <a:t>UPI / Mobile-Money Exports</a:t>
            </a:r>
            <a:r>
              <a:rPr lang="en-US" sz="2400" b="0" dirty="0">
                <a:latin typeface="+mn-lt"/>
              </a:rPr>
              <a:t> :</a:t>
            </a:r>
            <a:r>
              <a:rPr lang="en-US" sz="2400" b="0" dirty="0">
                <a:latin typeface="+mn-lt"/>
                <a:ea typeface="Calibri" pitchFamily="34" charset="-122"/>
                <a:cs typeface="Calibri" pitchFamily="34" charset="-120"/>
              </a:rPr>
              <a:t>Digital transaction exports (amount, timestamp, counterparty) — the highest-fidelity signal for regular earners</a:t>
            </a:r>
          </a:p>
          <a:p>
            <a:r>
              <a:rPr lang="en-US" sz="2400" b="0" dirty="0">
                <a:latin typeface="+mn-lt"/>
                <a:ea typeface="Calibri" pitchFamily="34" charset="-122"/>
                <a:cs typeface="Calibri" pitchFamily="34" charset="-120"/>
              </a:rPr>
              <a:t>Bank Statement PDFs : Uploaded statements parsed via OCR/text-extraction to recover transaction-level detail from unstructured layouts.</a:t>
            </a:r>
            <a:endParaRPr lang="en-US" sz="2400" b="0" dirty="0">
              <a:latin typeface="+mn-lt"/>
            </a:endParaRPr>
          </a:p>
          <a:p>
            <a:r>
              <a:rPr lang="en-US" sz="2400" b="0" dirty="0">
                <a:latin typeface="+mn-lt"/>
                <a:ea typeface="Calibri" pitchFamily="34" charset="-122"/>
                <a:cs typeface="Calibri" pitchFamily="34" charset="-120"/>
              </a:rPr>
              <a:t>Informal Sales Logs : Handwritten or spreadsheet sales/ledger records from micro-retailers, capturing cash-heavy transactions.</a:t>
            </a:r>
            <a:endParaRPr lang="en-US" sz="2400" b="0" dirty="0">
              <a:latin typeface="+mn-lt"/>
            </a:endParaRPr>
          </a:p>
          <a:p>
            <a:r>
              <a:rPr lang="en-US" sz="2400" b="0" dirty="0">
                <a:latin typeface="+mn-lt"/>
                <a:ea typeface="Calibri" pitchFamily="34" charset="-122"/>
                <a:cs typeface="Calibri" pitchFamily="34" charset="-120"/>
              </a:rPr>
              <a:t>Inventory Receipts : Purchase and stock records that reveal cost cycles, restocking cadence, and margin patterns.</a:t>
            </a:r>
            <a:endParaRPr lang="en-US" sz="2400" b="0" dirty="0">
              <a:latin typeface="+mn-lt"/>
            </a:endParaRP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Additional Information…. </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619C8D9-0F7E-7DCC-440B-EDEFEEEE8F04}"/>
              </a:ext>
            </a:extLst>
          </p:cNvPr>
          <p:cNvSpPr txBox="1"/>
          <p:nvPr/>
        </p:nvSpPr>
        <p:spPr>
          <a:xfrm>
            <a:off x="2933395" y="57036"/>
            <a:ext cx="9429293" cy="646331"/>
          </a:xfrm>
          <a:prstGeom prst="rect">
            <a:avLst/>
          </a:prstGeom>
          <a:noFill/>
        </p:spPr>
        <p:txBody>
          <a:bodyPr wrap="square" rtlCol="0">
            <a:spAutoFit/>
          </a:bodyPr>
          <a:lstStyle/>
          <a:p>
            <a:r>
              <a:rPr lang="en-IN" b="1" dirty="0" err="1">
                <a:solidFill>
                  <a:schemeClr val="bg1"/>
                </a:solidFill>
              </a:rPr>
              <a:t>CashFlow</a:t>
            </a:r>
            <a:r>
              <a:rPr lang="en-IN" b="1" dirty="0">
                <a:solidFill>
                  <a:schemeClr val="bg1"/>
                </a:solidFill>
              </a:rPr>
              <a:t> : An AI System for Reconstructing Income, Credit Scoring, and Cash-Flow Management</a:t>
            </a:r>
            <a:endParaRPr lang="en-IN" dirty="0">
              <a:solidFill>
                <a:schemeClr val="bg1"/>
              </a:solidFill>
            </a:endParaRPr>
          </a:p>
          <a:p>
            <a:pPr algn="r"/>
            <a:endParaRPr lang="en-US" dirty="0"/>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34A35-5C56-9F08-B17D-83CFE009FCF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3876F10-0CFD-CAEC-A49A-CA6D48CE7E8F}"/>
              </a:ext>
            </a:extLst>
          </p:cNvPr>
          <p:cNvSpPr>
            <a:spLocks noGrp="1"/>
          </p:cNvSpPr>
          <p:nvPr>
            <p:ph type="body" sz="quarter" idx="13"/>
          </p:nvPr>
        </p:nvSpPr>
        <p:spPr>
          <a:xfrm>
            <a:off x="255996" y="1271219"/>
            <a:ext cx="10624338" cy="4142989"/>
          </a:xfrm>
        </p:spPr>
        <p:txBody>
          <a:bodyPr/>
          <a:lstStyle/>
          <a:p>
            <a:pPr marL="0" indent="0">
              <a:buNone/>
            </a:pPr>
            <a:r>
              <a:rPr lang="en-US" sz="2400" dirty="0">
                <a:latin typeface="+mn-lt"/>
                <a:ea typeface="Calibri" pitchFamily="34" charset="-122"/>
                <a:cs typeface="Calibri" pitchFamily="34" charset="-120"/>
              </a:rPr>
              <a:t>TIMELINE</a:t>
            </a:r>
          </a:p>
        </p:txBody>
      </p:sp>
      <p:sp>
        <p:nvSpPr>
          <p:cNvPr id="3" name="TextBox 2">
            <a:extLst>
              <a:ext uri="{FF2B5EF4-FFF2-40B4-BE49-F238E27FC236}">
                <a16:creationId xmlns:a16="http://schemas.microsoft.com/office/drawing/2014/main" id="{C8D8E0A4-1E35-0F8A-268F-21755E9BA605}"/>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Additional Information…. </a:t>
            </a:r>
          </a:p>
        </p:txBody>
      </p:sp>
      <p:cxnSp>
        <p:nvCxnSpPr>
          <p:cNvPr id="5" name="Straight Connector 4">
            <a:extLst>
              <a:ext uri="{FF2B5EF4-FFF2-40B4-BE49-F238E27FC236}">
                <a16:creationId xmlns:a16="http://schemas.microsoft.com/office/drawing/2014/main" id="{C1CF770E-B187-CB94-0E78-263B9D618C4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CB4E09E-6EB1-DC7A-BFE1-AC80DF9B7F9A}"/>
              </a:ext>
            </a:extLst>
          </p:cNvPr>
          <p:cNvSpPr txBox="1"/>
          <p:nvPr/>
        </p:nvSpPr>
        <p:spPr>
          <a:xfrm>
            <a:off x="2933395" y="57036"/>
            <a:ext cx="9429293" cy="646331"/>
          </a:xfrm>
          <a:prstGeom prst="rect">
            <a:avLst/>
          </a:prstGeom>
          <a:noFill/>
        </p:spPr>
        <p:txBody>
          <a:bodyPr wrap="square" rtlCol="0">
            <a:spAutoFit/>
          </a:bodyPr>
          <a:lstStyle/>
          <a:p>
            <a:r>
              <a:rPr lang="en-IN" b="1" dirty="0" err="1">
                <a:solidFill>
                  <a:schemeClr val="bg1"/>
                </a:solidFill>
              </a:rPr>
              <a:t>CashFlow</a:t>
            </a:r>
            <a:r>
              <a:rPr lang="en-IN" b="1" dirty="0">
                <a:solidFill>
                  <a:schemeClr val="bg1"/>
                </a:solidFill>
              </a:rPr>
              <a:t> : An AI System for Reconstructing Income, Credit Scoring, and Cash-Flow Management</a:t>
            </a:r>
            <a:endParaRPr lang="en-IN" dirty="0">
              <a:solidFill>
                <a:schemeClr val="bg1"/>
              </a:solidFill>
            </a:endParaRPr>
          </a:p>
          <a:p>
            <a:pPr algn="r"/>
            <a:endParaRPr lang="en-US" dirty="0"/>
          </a:p>
        </p:txBody>
      </p:sp>
      <p:graphicFrame>
        <p:nvGraphicFramePr>
          <p:cNvPr id="4" name="Table 3">
            <a:extLst>
              <a:ext uri="{FF2B5EF4-FFF2-40B4-BE49-F238E27FC236}">
                <a16:creationId xmlns:a16="http://schemas.microsoft.com/office/drawing/2014/main" id="{D5A4B23B-A477-FE81-AE51-21BEDFE2007B}"/>
              </a:ext>
            </a:extLst>
          </p:cNvPr>
          <p:cNvGraphicFramePr>
            <a:graphicFrameLocks noGrp="1"/>
          </p:cNvGraphicFramePr>
          <p:nvPr>
            <p:extLst>
              <p:ext uri="{D42A27DB-BD31-4B8C-83A1-F6EECF244321}">
                <p14:modId xmlns:p14="http://schemas.microsoft.com/office/powerpoint/2010/main" val="614318013"/>
              </p:ext>
            </p:extLst>
          </p:nvPr>
        </p:nvGraphicFramePr>
        <p:xfrm>
          <a:off x="1001332" y="1670232"/>
          <a:ext cx="10724934" cy="4738585"/>
        </p:xfrm>
        <a:graphic>
          <a:graphicData uri="http://schemas.openxmlformats.org/drawingml/2006/table">
            <a:tbl>
              <a:tblPr>
                <a:tableStyleId>{2D5ABB26-0587-4C30-8999-92F81FD0307C}</a:tableStyleId>
              </a:tblPr>
              <a:tblGrid>
                <a:gridCol w="1317586">
                  <a:extLst>
                    <a:ext uri="{9D8B030D-6E8A-4147-A177-3AD203B41FA5}">
                      <a16:colId xmlns:a16="http://schemas.microsoft.com/office/drawing/2014/main" val="3081606294"/>
                    </a:ext>
                  </a:extLst>
                </a:gridCol>
                <a:gridCol w="2896820">
                  <a:extLst>
                    <a:ext uri="{9D8B030D-6E8A-4147-A177-3AD203B41FA5}">
                      <a16:colId xmlns:a16="http://schemas.microsoft.com/office/drawing/2014/main" val="4283453843"/>
                    </a:ext>
                  </a:extLst>
                </a:gridCol>
                <a:gridCol w="6510528">
                  <a:extLst>
                    <a:ext uri="{9D8B030D-6E8A-4147-A177-3AD203B41FA5}">
                      <a16:colId xmlns:a16="http://schemas.microsoft.com/office/drawing/2014/main" val="448821471"/>
                    </a:ext>
                  </a:extLst>
                </a:gridCol>
              </a:tblGrid>
              <a:tr h="282015">
                <a:tc>
                  <a:txBody>
                    <a:bodyPr/>
                    <a:lstStyle/>
                    <a:p>
                      <a:pPr>
                        <a:buNone/>
                      </a:pPr>
                      <a:r>
                        <a:rPr lang="en-IN" sz="2000">
                          <a:solidFill>
                            <a:srgbClr val="0070C0"/>
                          </a:solidFill>
                        </a:rPr>
                        <a:t>Week</a:t>
                      </a:r>
                    </a:p>
                  </a:txBody>
                  <a:tcPr marL="70504" marR="70504" marT="35252" marB="352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solidFill>
                            <a:srgbClr val="0070C0"/>
                          </a:solidFill>
                        </a:rPr>
                        <a:t>Focus</a:t>
                      </a:r>
                    </a:p>
                  </a:txBody>
                  <a:tcPr marL="70504" marR="70504" marT="35252" marB="352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solidFill>
                            <a:srgbClr val="0070C0"/>
                          </a:solidFill>
                        </a:rPr>
                        <a:t>Key Deliverables</a:t>
                      </a:r>
                    </a:p>
                  </a:txBody>
                  <a:tcPr marL="70504" marR="70504" marT="35252" marB="352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2682955"/>
                  </a:ext>
                </a:extLst>
              </a:tr>
              <a:tr h="1158522">
                <a:tc>
                  <a:txBody>
                    <a:bodyPr/>
                    <a:lstStyle/>
                    <a:p>
                      <a:pPr>
                        <a:buNone/>
                      </a:pPr>
                      <a:r>
                        <a:rPr lang="en-IN" sz="2000" dirty="0">
                          <a:solidFill>
                            <a:srgbClr val="0070C0"/>
                          </a:solidFill>
                        </a:rPr>
                        <a:t>Week 1</a:t>
                      </a:r>
                    </a:p>
                  </a:txBody>
                  <a:tcPr marL="70504" marR="70504" marT="35252" marB="352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solidFill>
                            <a:srgbClr val="0070C0"/>
                          </a:solidFill>
                        </a:rPr>
                        <a:t>Data Spine + Income Reconstruction</a:t>
                      </a:r>
                    </a:p>
                  </a:txBody>
                  <a:tcPr marL="70504" marR="70504" marT="35252" marB="352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solidFill>
                            <a:srgbClr val="0070C0"/>
                          </a:solidFill>
                        </a:rPr>
                        <a:t>Parsers for UPI/mobile-money exports &amp; bank PDFs; unified transaction schema; literature review + research-gap writeup; defined objectives/scope</a:t>
                      </a:r>
                    </a:p>
                  </a:txBody>
                  <a:tcPr marL="70504" marR="70504" marT="35252" marB="352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9478191"/>
                  </a:ext>
                </a:extLst>
              </a:tr>
              <a:tr h="1091796">
                <a:tc>
                  <a:txBody>
                    <a:bodyPr/>
                    <a:lstStyle/>
                    <a:p>
                      <a:pPr>
                        <a:buNone/>
                      </a:pPr>
                      <a:r>
                        <a:rPr lang="en-IN" sz="2000">
                          <a:solidFill>
                            <a:srgbClr val="0070C0"/>
                          </a:solidFill>
                        </a:rPr>
                        <a:t>Week 2</a:t>
                      </a:r>
                    </a:p>
                  </a:txBody>
                  <a:tcPr marL="70504" marR="70504" marT="35252" marB="352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solidFill>
                            <a:srgbClr val="0070C0"/>
                          </a:solidFill>
                        </a:rPr>
                        <a:t>Income Reconstruction + EDA</a:t>
                      </a:r>
                    </a:p>
                  </a:txBody>
                  <a:tcPr marL="70504" marR="70504" marT="35252" marB="352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solidFill>
                            <a:srgbClr val="0070C0"/>
                          </a:solidFill>
                        </a:rPr>
                        <a:t>Parsing extended to sales logs/inventory receipts; cleaning &amp; normalization; cash-flow/seasonality visualizations; initial findings documented</a:t>
                      </a:r>
                    </a:p>
                  </a:txBody>
                  <a:tcPr marL="70504" marR="70504" marT="35252" marB="352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6340975"/>
                  </a:ext>
                </a:extLst>
              </a:tr>
              <a:tr h="1128059">
                <a:tc>
                  <a:txBody>
                    <a:bodyPr/>
                    <a:lstStyle/>
                    <a:p>
                      <a:pPr>
                        <a:buNone/>
                      </a:pPr>
                      <a:r>
                        <a:rPr lang="en-IN" sz="2000">
                          <a:solidFill>
                            <a:srgbClr val="0070C0"/>
                          </a:solidFill>
                        </a:rPr>
                        <a:t>Week 3</a:t>
                      </a:r>
                    </a:p>
                  </a:txBody>
                  <a:tcPr marL="70504" marR="70504" marT="35252" marB="352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solidFill>
                            <a:srgbClr val="0070C0"/>
                          </a:solidFill>
                        </a:rPr>
                        <a:t>Explainable Credit Scoring + Agent Build</a:t>
                      </a:r>
                    </a:p>
                  </a:txBody>
                  <a:tcPr marL="70504" marR="70504" marT="35252" marB="352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solidFill>
                            <a:srgbClr val="0070C0"/>
                          </a:solidFill>
                        </a:rPr>
                        <a:t>Rule-based scorecard live; </a:t>
                      </a:r>
                      <a:r>
                        <a:rPr lang="en-IN" sz="2000" dirty="0" err="1">
                          <a:solidFill>
                            <a:srgbClr val="0070C0"/>
                          </a:solidFill>
                        </a:rPr>
                        <a:t>XGBoost+SHAP</a:t>
                      </a:r>
                      <a:r>
                        <a:rPr lang="en-IN" sz="2000" dirty="0">
                          <a:solidFill>
                            <a:srgbClr val="0070C0"/>
                          </a:solidFill>
                        </a:rPr>
                        <a:t> running in shadow mode; Receivables Chaser agent + orchestrator built; </a:t>
                      </a:r>
                    </a:p>
                  </a:txBody>
                  <a:tcPr marL="70504" marR="70504" marT="35252" marB="352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6389557"/>
                  </a:ext>
                </a:extLst>
              </a:tr>
              <a:tr h="916548">
                <a:tc>
                  <a:txBody>
                    <a:bodyPr/>
                    <a:lstStyle/>
                    <a:p>
                      <a:pPr>
                        <a:buNone/>
                      </a:pPr>
                      <a:r>
                        <a:rPr lang="en-IN" sz="2000">
                          <a:solidFill>
                            <a:srgbClr val="0070C0"/>
                          </a:solidFill>
                        </a:rPr>
                        <a:t>Week 4</a:t>
                      </a:r>
                    </a:p>
                  </a:txBody>
                  <a:tcPr marL="70504" marR="70504" marT="35252" marB="352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solidFill>
                            <a:srgbClr val="0070C0"/>
                          </a:solidFill>
                        </a:rPr>
                        <a:t>Integration, Approval Screen, Demo</a:t>
                      </a:r>
                    </a:p>
                  </a:txBody>
                  <a:tcPr marL="70504" marR="70504" marT="35252" marB="352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solidFill>
                            <a:srgbClr val="0070C0"/>
                          </a:solidFill>
                        </a:rPr>
                        <a:t>Single human-approval screen wired to agent actions; React frontend integration; end-to-end testing; final demo &amp; documentation</a:t>
                      </a:r>
                    </a:p>
                  </a:txBody>
                  <a:tcPr marL="70504" marR="70504" marT="35252" marB="352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5145345"/>
                  </a:ext>
                </a:extLst>
              </a:tr>
            </a:tbl>
          </a:graphicData>
        </a:graphic>
      </p:graphicFrame>
    </p:spTree>
    <p:extLst>
      <p:ext uri="{BB962C8B-B14F-4D97-AF65-F5344CB8AC3E}">
        <p14:creationId xmlns:p14="http://schemas.microsoft.com/office/powerpoint/2010/main" val="2774499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47AA9-EC68-EC53-1B31-D3B21F292A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70E5806-25CC-2BDC-D8EA-0CE7FB93B8AE}"/>
              </a:ext>
            </a:extLst>
          </p:cNvPr>
          <p:cNvSpPr>
            <a:spLocks noGrp="1"/>
          </p:cNvSpPr>
          <p:nvPr>
            <p:ph type="body" sz="quarter" idx="13"/>
          </p:nvPr>
        </p:nvSpPr>
        <p:spPr>
          <a:xfrm>
            <a:off x="255996" y="1271219"/>
            <a:ext cx="10624338" cy="4142989"/>
          </a:xfrm>
        </p:spPr>
        <p:txBody>
          <a:bodyPr/>
          <a:lstStyle/>
          <a:p>
            <a:pPr marL="0" indent="0">
              <a:buNone/>
            </a:pPr>
            <a:r>
              <a:rPr lang="en-US" sz="2400" dirty="0">
                <a:latin typeface="+mn-lt"/>
                <a:ea typeface="Calibri" pitchFamily="34" charset="-122"/>
                <a:cs typeface="Calibri" pitchFamily="34" charset="-120"/>
              </a:rPr>
              <a:t>TIMELINE</a:t>
            </a:r>
          </a:p>
        </p:txBody>
      </p:sp>
      <p:sp>
        <p:nvSpPr>
          <p:cNvPr id="3" name="TextBox 2">
            <a:extLst>
              <a:ext uri="{FF2B5EF4-FFF2-40B4-BE49-F238E27FC236}">
                <a16:creationId xmlns:a16="http://schemas.microsoft.com/office/drawing/2014/main" id="{815EB9C6-6D88-4BB3-E842-17E8ADA75E7A}"/>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Additional Information…. </a:t>
            </a:r>
          </a:p>
        </p:txBody>
      </p:sp>
      <p:cxnSp>
        <p:nvCxnSpPr>
          <p:cNvPr id="5" name="Straight Connector 4">
            <a:extLst>
              <a:ext uri="{FF2B5EF4-FFF2-40B4-BE49-F238E27FC236}">
                <a16:creationId xmlns:a16="http://schemas.microsoft.com/office/drawing/2014/main" id="{CBC5D594-763E-F51F-F11C-D61C1A953A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D63E488-901D-2D58-00A2-870440F7DB23}"/>
              </a:ext>
            </a:extLst>
          </p:cNvPr>
          <p:cNvSpPr txBox="1"/>
          <p:nvPr/>
        </p:nvSpPr>
        <p:spPr>
          <a:xfrm>
            <a:off x="2933395" y="57036"/>
            <a:ext cx="9429293" cy="646331"/>
          </a:xfrm>
          <a:prstGeom prst="rect">
            <a:avLst/>
          </a:prstGeom>
          <a:noFill/>
        </p:spPr>
        <p:txBody>
          <a:bodyPr wrap="square" rtlCol="0">
            <a:spAutoFit/>
          </a:bodyPr>
          <a:lstStyle/>
          <a:p>
            <a:r>
              <a:rPr lang="en-IN" b="1" dirty="0" err="1">
                <a:solidFill>
                  <a:schemeClr val="bg1"/>
                </a:solidFill>
              </a:rPr>
              <a:t>CashFlow</a:t>
            </a:r>
            <a:r>
              <a:rPr lang="en-IN" b="1" dirty="0">
                <a:solidFill>
                  <a:schemeClr val="bg1"/>
                </a:solidFill>
              </a:rPr>
              <a:t> : An AI System for Reconstructing Income, Credit Scoring, and Cash-Flow Management</a:t>
            </a:r>
            <a:endParaRPr lang="en-IN" dirty="0">
              <a:solidFill>
                <a:schemeClr val="bg1"/>
              </a:solidFill>
            </a:endParaRPr>
          </a:p>
          <a:p>
            <a:pPr algn="r"/>
            <a:endParaRPr lang="en-US" dirty="0"/>
          </a:p>
        </p:txBody>
      </p:sp>
      <p:graphicFrame>
        <p:nvGraphicFramePr>
          <p:cNvPr id="9" name="Table 8">
            <a:extLst>
              <a:ext uri="{FF2B5EF4-FFF2-40B4-BE49-F238E27FC236}">
                <a16:creationId xmlns:a16="http://schemas.microsoft.com/office/drawing/2014/main" id="{8A38BF88-93C5-99C0-C14B-046964EBC67C}"/>
              </a:ext>
            </a:extLst>
          </p:cNvPr>
          <p:cNvGraphicFramePr>
            <a:graphicFrameLocks noGrp="1"/>
          </p:cNvGraphicFramePr>
          <p:nvPr/>
        </p:nvGraphicFramePr>
        <p:xfrm>
          <a:off x="677863" y="1989138"/>
          <a:ext cx="11004550" cy="3200400"/>
        </p:xfrm>
        <a:graphic>
          <a:graphicData uri="http://schemas.openxmlformats.org/drawingml/2006/table">
            <a:tbl>
              <a:tblPr>
                <a:tableStyleId>{5C22544A-7EE6-4342-B048-85BDC9FD1C3A}</a:tableStyleId>
              </a:tblPr>
              <a:tblGrid>
                <a:gridCol w="2200910">
                  <a:extLst>
                    <a:ext uri="{9D8B030D-6E8A-4147-A177-3AD203B41FA5}">
                      <a16:colId xmlns:a16="http://schemas.microsoft.com/office/drawing/2014/main" val="774247238"/>
                    </a:ext>
                  </a:extLst>
                </a:gridCol>
                <a:gridCol w="2200910">
                  <a:extLst>
                    <a:ext uri="{9D8B030D-6E8A-4147-A177-3AD203B41FA5}">
                      <a16:colId xmlns:a16="http://schemas.microsoft.com/office/drawing/2014/main" val="3118869812"/>
                    </a:ext>
                  </a:extLst>
                </a:gridCol>
                <a:gridCol w="2200910">
                  <a:extLst>
                    <a:ext uri="{9D8B030D-6E8A-4147-A177-3AD203B41FA5}">
                      <a16:colId xmlns:a16="http://schemas.microsoft.com/office/drawing/2014/main" val="2013756880"/>
                    </a:ext>
                  </a:extLst>
                </a:gridCol>
                <a:gridCol w="2200910">
                  <a:extLst>
                    <a:ext uri="{9D8B030D-6E8A-4147-A177-3AD203B41FA5}">
                      <a16:colId xmlns:a16="http://schemas.microsoft.com/office/drawing/2014/main" val="1253748800"/>
                    </a:ext>
                  </a:extLst>
                </a:gridCol>
                <a:gridCol w="2200910">
                  <a:extLst>
                    <a:ext uri="{9D8B030D-6E8A-4147-A177-3AD203B41FA5}">
                      <a16:colId xmlns:a16="http://schemas.microsoft.com/office/drawing/2014/main" val="748121465"/>
                    </a:ext>
                  </a:extLst>
                </a:gridCol>
              </a:tblGrid>
              <a:tr h="0">
                <a:tc>
                  <a:txBody>
                    <a:bodyPr/>
                    <a:lstStyle/>
                    <a:p>
                      <a:pPr>
                        <a:buNone/>
                      </a:pPr>
                      <a:r>
                        <a:rPr lang="en-IN"/>
                        <a:t>Project Phase</a:t>
                      </a:r>
                    </a:p>
                  </a:txBody>
                  <a:tcPr anchor="ctr"/>
                </a:tc>
                <a:tc>
                  <a:txBody>
                    <a:bodyPr/>
                    <a:lstStyle/>
                    <a:p>
                      <a:pPr algn="ctr">
                        <a:buNone/>
                      </a:pPr>
                      <a:r>
                        <a:rPr lang="en-IN"/>
                        <a:t>Week 1</a:t>
                      </a:r>
                    </a:p>
                  </a:txBody>
                  <a:tcPr anchor="ctr"/>
                </a:tc>
                <a:tc>
                  <a:txBody>
                    <a:bodyPr/>
                    <a:lstStyle/>
                    <a:p>
                      <a:pPr algn="ctr">
                        <a:buNone/>
                      </a:pPr>
                      <a:r>
                        <a:rPr lang="en-IN"/>
                        <a:t>Week 2</a:t>
                      </a:r>
                    </a:p>
                  </a:txBody>
                  <a:tcPr anchor="ctr"/>
                </a:tc>
                <a:tc>
                  <a:txBody>
                    <a:bodyPr/>
                    <a:lstStyle/>
                    <a:p>
                      <a:pPr algn="ctr">
                        <a:buNone/>
                      </a:pPr>
                      <a:r>
                        <a:rPr lang="en-IN"/>
                        <a:t>Week 3</a:t>
                      </a:r>
                    </a:p>
                  </a:txBody>
                  <a:tcPr anchor="ctr"/>
                </a:tc>
                <a:tc>
                  <a:txBody>
                    <a:bodyPr/>
                    <a:lstStyle/>
                    <a:p>
                      <a:pPr algn="ctr">
                        <a:buNone/>
                      </a:pPr>
                      <a:r>
                        <a:rPr lang="en-IN"/>
                        <a:t>Week 4</a:t>
                      </a:r>
                    </a:p>
                  </a:txBody>
                  <a:tcPr anchor="ctr"/>
                </a:tc>
                <a:extLst>
                  <a:ext uri="{0D108BD9-81ED-4DB2-BD59-A6C34878D82A}">
                    <a16:rowId xmlns:a16="http://schemas.microsoft.com/office/drawing/2014/main" val="1476246332"/>
                  </a:ext>
                </a:extLst>
              </a:tr>
              <a:tr h="0">
                <a:tc>
                  <a:txBody>
                    <a:bodyPr/>
                    <a:lstStyle/>
                    <a:p>
                      <a:pPr>
                        <a:buNone/>
                      </a:pPr>
                      <a:r>
                        <a:rPr lang="en-IN"/>
                        <a:t>Data Foundation &amp; Research</a:t>
                      </a:r>
                    </a:p>
                  </a:txBody>
                  <a:tcPr anchor="ctr"/>
                </a:tc>
                <a:tc>
                  <a:txBody>
                    <a:bodyPr/>
                    <a:lstStyle/>
                    <a:p>
                      <a:pPr algn="ctr">
                        <a:buNone/>
                      </a:pPr>
                      <a:r>
                        <a:rPr lang="en-IN"/>
                        <a:t>████████</a:t>
                      </a:r>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extLst>
                  <a:ext uri="{0D108BD9-81ED-4DB2-BD59-A6C34878D82A}">
                    <a16:rowId xmlns:a16="http://schemas.microsoft.com/office/drawing/2014/main" val="1180805231"/>
                  </a:ext>
                </a:extLst>
              </a:tr>
              <a:tr h="0">
                <a:tc>
                  <a:txBody>
                    <a:bodyPr/>
                    <a:lstStyle/>
                    <a:p>
                      <a:pPr>
                        <a:buNone/>
                      </a:pPr>
                      <a:r>
                        <a:rPr lang="en-IN"/>
                        <a:t>Income Reconstruction &amp; EDA</a:t>
                      </a:r>
                    </a:p>
                  </a:txBody>
                  <a:tcPr anchor="ctr"/>
                </a:tc>
                <a:tc>
                  <a:txBody>
                    <a:bodyPr/>
                    <a:lstStyle/>
                    <a:p>
                      <a:pPr algn="ctr">
                        <a:buNone/>
                      </a:pPr>
                      <a:endParaRPr lang="en-IN"/>
                    </a:p>
                  </a:txBody>
                  <a:tcPr anchor="ctr"/>
                </a:tc>
                <a:tc>
                  <a:txBody>
                    <a:bodyPr/>
                    <a:lstStyle/>
                    <a:p>
                      <a:pPr algn="ctr">
                        <a:buNone/>
                      </a:pPr>
                      <a:r>
                        <a:rPr lang="en-IN"/>
                        <a:t>████████</a:t>
                      </a:r>
                    </a:p>
                  </a:txBody>
                  <a:tcPr anchor="ctr"/>
                </a:tc>
                <a:tc>
                  <a:txBody>
                    <a:bodyPr/>
                    <a:lstStyle/>
                    <a:p>
                      <a:pPr algn="ctr">
                        <a:buNone/>
                      </a:pPr>
                      <a:endParaRPr lang="en-IN"/>
                    </a:p>
                  </a:txBody>
                  <a:tcPr anchor="ctr"/>
                </a:tc>
                <a:tc>
                  <a:txBody>
                    <a:bodyPr/>
                    <a:lstStyle/>
                    <a:p>
                      <a:pPr algn="ctr">
                        <a:buNone/>
                      </a:pPr>
                      <a:endParaRPr lang="en-IN"/>
                    </a:p>
                  </a:txBody>
                  <a:tcPr anchor="ctr"/>
                </a:tc>
                <a:extLst>
                  <a:ext uri="{0D108BD9-81ED-4DB2-BD59-A6C34878D82A}">
                    <a16:rowId xmlns:a16="http://schemas.microsoft.com/office/drawing/2014/main" val="3562688234"/>
                  </a:ext>
                </a:extLst>
              </a:tr>
              <a:tr h="0">
                <a:tc>
                  <a:txBody>
                    <a:bodyPr/>
                    <a:lstStyle/>
                    <a:p>
                      <a:pPr>
                        <a:buNone/>
                      </a:pPr>
                      <a:r>
                        <a:rPr lang="en-IN"/>
                        <a:t>Credit Scoring &amp; AI Agents</a:t>
                      </a:r>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r>
                        <a:rPr lang="en-IN"/>
                        <a:t>████████</a:t>
                      </a:r>
                    </a:p>
                  </a:txBody>
                  <a:tcPr anchor="ctr"/>
                </a:tc>
                <a:tc>
                  <a:txBody>
                    <a:bodyPr/>
                    <a:lstStyle/>
                    <a:p>
                      <a:pPr algn="ctr">
                        <a:buNone/>
                      </a:pPr>
                      <a:endParaRPr lang="en-IN"/>
                    </a:p>
                  </a:txBody>
                  <a:tcPr anchor="ctr"/>
                </a:tc>
                <a:extLst>
                  <a:ext uri="{0D108BD9-81ED-4DB2-BD59-A6C34878D82A}">
                    <a16:rowId xmlns:a16="http://schemas.microsoft.com/office/drawing/2014/main" val="3457202701"/>
                  </a:ext>
                </a:extLst>
              </a:tr>
              <a:tr h="0">
                <a:tc>
                  <a:txBody>
                    <a:bodyPr/>
                    <a:lstStyle/>
                    <a:p>
                      <a:pPr>
                        <a:buNone/>
                      </a:pPr>
                      <a:r>
                        <a:rPr lang="en-IN"/>
                        <a:t>Integration, Testing &amp; Demo</a:t>
                      </a:r>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endParaRPr lang="en-IN"/>
                    </a:p>
                  </a:txBody>
                  <a:tcPr anchor="ctr"/>
                </a:tc>
                <a:tc>
                  <a:txBody>
                    <a:bodyPr/>
                    <a:lstStyle/>
                    <a:p>
                      <a:pPr algn="ctr">
                        <a:buNone/>
                      </a:pPr>
                      <a:r>
                        <a:rPr lang="en-IN" dirty="0"/>
                        <a:t>████████</a:t>
                      </a:r>
                    </a:p>
                  </a:txBody>
                  <a:tcPr anchor="ctr"/>
                </a:tc>
                <a:extLst>
                  <a:ext uri="{0D108BD9-81ED-4DB2-BD59-A6C34878D82A}">
                    <a16:rowId xmlns:a16="http://schemas.microsoft.com/office/drawing/2014/main" val="2687353315"/>
                  </a:ext>
                </a:extLst>
              </a:tr>
            </a:tbl>
          </a:graphicData>
        </a:graphic>
      </p:graphicFrame>
    </p:spTree>
    <p:extLst>
      <p:ext uri="{BB962C8B-B14F-4D97-AF65-F5344CB8AC3E}">
        <p14:creationId xmlns:p14="http://schemas.microsoft.com/office/powerpoint/2010/main" val="1377694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55996" y="1271219"/>
            <a:ext cx="10624338" cy="4142989"/>
          </a:xfrm>
        </p:spPr>
        <p:txBody>
          <a:bodyPr/>
          <a:lstStyle/>
          <a:p>
            <a:pPr marL="514350" lvl="0" indent="-514350">
              <a:buFont typeface="+mj-lt"/>
              <a:buAutoNum type="arabicPeriod"/>
            </a:pPr>
            <a:r>
              <a:rPr lang="en-IN" sz="2400" b="0" dirty="0">
                <a:latin typeface="+mn-lt"/>
              </a:rPr>
              <a:t>Data Ingestion </a:t>
            </a:r>
          </a:p>
          <a:p>
            <a:pPr marL="514350" lvl="0" indent="-514350">
              <a:buFont typeface="+mj-lt"/>
              <a:buAutoNum type="arabicPeriod"/>
            </a:pPr>
            <a:r>
              <a:rPr lang="en-IN" sz="2400" b="0" dirty="0">
                <a:latin typeface="+mn-lt"/>
              </a:rPr>
              <a:t>Income Reconstruction &amp; Financial Intelligence </a:t>
            </a:r>
          </a:p>
          <a:p>
            <a:pPr marL="514350" lvl="0" indent="-514350">
              <a:buFont typeface="+mj-lt"/>
              <a:buAutoNum type="arabicPeriod"/>
            </a:pPr>
            <a:r>
              <a:rPr lang="en-IN" sz="2400" b="0" dirty="0">
                <a:latin typeface="+mn-lt"/>
              </a:rPr>
              <a:t>Explainable Credit Scoring </a:t>
            </a:r>
          </a:p>
          <a:p>
            <a:pPr marL="514350" lvl="0" indent="-514350">
              <a:buFont typeface="+mj-lt"/>
              <a:buAutoNum type="arabicPeriod"/>
            </a:pPr>
            <a:r>
              <a:rPr lang="en-IN" sz="2400" b="0" dirty="0">
                <a:latin typeface="+mn-lt"/>
              </a:rPr>
              <a:t>Agentic Cash Flow Management </a:t>
            </a:r>
          </a:p>
          <a:p>
            <a:pPr marL="514350" lvl="0" indent="-514350">
              <a:buFont typeface="+mj-lt"/>
              <a:buAutoNum type="arabicPeriod"/>
            </a:pPr>
            <a:r>
              <a:rPr lang="en-IN" sz="2400" b="0" dirty="0">
                <a:latin typeface="+mn-lt"/>
              </a:rPr>
              <a:t>Multi-Agent Orchestration &amp; Human Approval </a:t>
            </a:r>
          </a:p>
          <a:p>
            <a:pPr marL="514350" lvl="0" indent="-514350">
              <a:buFont typeface="+mj-lt"/>
              <a:buAutoNum type="arabicPeriod"/>
            </a:pPr>
            <a:r>
              <a:rPr lang="en-IN" sz="2400" b="0" dirty="0">
                <a:latin typeface="+mn-lt"/>
              </a:rPr>
              <a:t>Financial Dashboard &amp; User Interface</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Modules to cover…. </a:t>
            </a:r>
          </a:p>
        </p:txBody>
      </p:sp>
      <p:cxnSp>
        <p:nvCxnSpPr>
          <p:cNvPr id="5" name="Straight Connector 4">
            <a:extLst>
              <a:ext uri="{FF2B5EF4-FFF2-40B4-BE49-F238E27FC236}">
                <a16:creationId xmlns:a16="http://schemas.microsoft.com/office/drawing/2014/main" id="{25CD5B67-3503-60B5-8469-F3C3191D84D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25AD7AA-9057-0C37-780C-165BFB2A30D4}"/>
              </a:ext>
            </a:extLst>
          </p:cNvPr>
          <p:cNvSpPr txBox="1"/>
          <p:nvPr/>
        </p:nvSpPr>
        <p:spPr>
          <a:xfrm>
            <a:off x="2933395" y="57036"/>
            <a:ext cx="9429293" cy="646331"/>
          </a:xfrm>
          <a:prstGeom prst="rect">
            <a:avLst/>
          </a:prstGeom>
          <a:noFill/>
        </p:spPr>
        <p:txBody>
          <a:bodyPr wrap="square" rtlCol="0">
            <a:spAutoFit/>
          </a:bodyPr>
          <a:lstStyle/>
          <a:p>
            <a:r>
              <a:rPr lang="en-IN" b="1" dirty="0" err="1">
                <a:solidFill>
                  <a:schemeClr val="bg1"/>
                </a:solidFill>
              </a:rPr>
              <a:t>CashFlow</a:t>
            </a:r>
            <a:r>
              <a:rPr lang="en-IN" b="1" dirty="0">
                <a:solidFill>
                  <a:schemeClr val="bg1"/>
                </a:solidFill>
              </a:rPr>
              <a:t> : An AI System for Reconstructing Income, Credit Scoring, and Cash-Flow Management</a:t>
            </a:r>
            <a:endParaRPr lang="en-IN" dirty="0">
              <a:solidFill>
                <a:schemeClr val="bg1"/>
              </a:solidFill>
            </a:endParaRPr>
          </a:p>
          <a:p>
            <a:pPr algn="r"/>
            <a:endParaRPr lang="en-US" dirty="0"/>
          </a:p>
        </p:txBody>
      </p:sp>
    </p:spTree>
    <p:extLst>
      <p:ext uri="{BB962C8B-B14F-4D97-AF65-F5344CB8AC3E}">
        <p14:creationId xmlns:p14="http://schemas.microsoft.com/office/powerpoint/2010/main" val="118736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55996" y="1271219"/>
            <a:ext cx="10624338" cy="3747008"/>
          </a:xfrm>
        </p:spPr>
        <p:txBody>
          <a:bodyPr/>
          <a:lstStyle/>
          <a:p>
            <a:pPr marL="0" indent="0">
              <a:buNone/>
            </a:pPr>
            <a:r>
              <a:rPr lang="en-IN" sz="2400" b="0" dirty="0">
                <a:latin typeface="+mn-lt"/>
              </a:rPr>
              <a:t>Description:</a:t>
            </a:r>
            <a:br>
              <a:rPr lang="en-IN" sz="2400" b="0" dirty="0">
                <a:latin typeface="+mn-lt"/>
              </a:rPr>
            </a:br>
            <a:r>
              <a:rPr lang="en-IN" sz="2400" b="0" dirty="0">
                <a:latin typeface="+mn-lt"/>
              </a:rPr>
              <a:t>Collects financial data from multiple sources such as bank statements, UPI/mobile payments, sales logs, and receipts, and converts them into a unified and standardized financial data structure.</a:t>
            </a:r>
          </a:p>
          <a:p>
            <a:pPr marL="0" indent="0">
              <a:buNone/>
            </a:pPr>
            <a:r>
              <a:rPr lang="en-IN" sz="2400" b="0" dirty="0">
                <a:latin typeface="+mn-lt"/>
              </a:rPr>
              <a:t>Function:</a:t>
            </a:r>
            <a:br>
              <a:rPr lang="en-IN" sz="2400" b="0" dirty="0">
                <a:latin typeface="+mn-lt"/>
              </a:rPr>
            </a:br>
            <a:r>
              <a:rPr lang="en-IN" sz="2400" b="0" dirty="0">
                <a:latin typeface="+mn-lt"/>
              </a:rPr>
              <a:t>Extract, clean, categorize, and normalize financial transactions from different data sources.</a:t>
            </a:r>
          </a:p>
          <a:p>
            <a:pPr marL="0" indent="0">
              <a:buNone/>
            </a:pPr>
            <a:r>
              <a:rPr lang="en-IN" sz="2400" b="0" dirty="0">
                <a:latin typeface="+mn-lt"/>
              </a:rPr>
              <a:t>Output:</a:t>
            </a:r>
            <a:br>
              <a:rPr lang="en-IN" sz="2400" b="0" dirty="0">
                <a:latin typeface="+mn-lt"/>
              </a:rPr>
            </a:br>
            <a:r>
              <a:rPr lang="en-IN" sz="2400" b="0" dirty="0">
                <a:latin typeface="+mn-lt"/>
              </a:rPr>
              <a:t>A structured and unified financial profile that serves as the common data foundation for all modules.</a:t>
            </a:r>
          </a:p>
          <a:p>
            <a:pPr marL="457200" lvl="1" indent="0">
              <a:buNone/>
            </a:pPr>
            <a:endParaRPr lang="en-US" dirty="0">
              <a:solidFill>
                <a:srgbClr val="1C3898"/>
              </a:solidFill>
            </a:endParaRP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IN" sz="3600" b="1" dirty="0">
                <a:solidFill>
                  <a:srgbClr val="1F4E79"/>
                </a:solidFill>
              </a:rPr>
              <a:t>Data Ingestion</a:t>
            </a:r>
            <a:endParaRPr kumimoji="0" lang="en-US" sz="3600" b="1" i="0" u="none" strike="noStrike" kern="1200" cap="none" spc="0" normalizeH="0" baseline="0" noProof="0" dirty="0">
              <a:ln>
                <a:noFill/>
              </a:ln>
              <a:solidFill>
                <a:srgbClr val="1F4E79"/>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B296E80-4DF9-0413-88D9-474654BAF7D4}"/>
              </a:ext>
            </a:extLst>
          </p:cNvPr>
          <p:cNvSpPr txBox="1"/>
          <p:nvPr/>
        </p:nvSpPr>
        <p:spPr>
          <a:xfrm>
            <a:off x="2933395" y="57036"/>
            <a:ext cx="9429293" cy="646331"/>
          </a:xfrm>
          <a:prstGeom prst="rect">
            <a:avLst/>
          </a:prstGeom>
          <a:noFill/>
        </p:spPr>
        <p:txBody>
          <a:bodyPr wrap="square" rtlCol="0">
            <a:spAutoFit/>
          </a:bodyPr>
          <a:lstStyle/>
          <a:p>
            <a:r>
              <a:rPr lang="en-IN" b="1" dirty="0" err="1">
                <a:solidFill>
                  <a:schemeClr val="bg1"/>
                </a:solidFill>
              </a:rPr>
              <a:t>CashFlow</a:t>
            </a:r>
            <a:r>
              <a:rPr lang="en-IN" b="1" dirty="0">
                <a:solidFill>
                  <a:schemeClr val="bg1"/>
                </a:solidFill>
              </a:rPr>
              <a:t> : An AI System for Reconstructing Income, Credit Scoring, and Cash-Flow Management</a:t>
            </a:r>
            <a:endParaRPr lang="en-IN" dirty="0">
              <a:solidFill>
                <a:schemeClr val="bg1"/>
              </a:solidFill>
            </a:endParaRPr>
          </a:p>
          <a:p>
            <a:pPr algn="r"/>
            <a:endParaRPr lang="en-US" dirty="0"/>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86DDE-F345-F2FA-CA75-4B93AA95A6E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A2078B0-0DEF-6AB2-C8D6-C21480FA07CE}"/>
              </a:ext>
            </a:extLst>
          </p:cNvPr>
          <p:cNvSpPr>
            <a:spLocks noGrp="1"/>
          </p:cNvSpPr>
          <p:nvPr>
            <p:ph type="body" sz="quarter" idx="13"/>
          </p:nvPr>
        </p:nvSpPr>
        <p:spPr>
          <a:xfrm>
            <a:off x="255996" y="1271218"/>
            <a:ext cx="10624338" cy="4463895"/>
          </a:xfrm>
        </p:spPr>
        <p:txBody>
          <a:bodyPr/>
          <a:lstStyle/>
          <a:p>
            <a:pPr marL="0" indent="0">
              <a:buNone/>
            </a:pPr>
            <a:r>
              <a:rPr lang="en-IN" sz="2400" b="0" dirty="0"/>
              <a:t>Description:</a:t>
            </a:r>
            <a:br>
              <a:rPr lang="en-IN" sz="2400" b="0" dirty="0"/>
            </a:br>
            <a:r>
              <a:rPr lang="en-IN" sz="2400" b="0" dirty="0"/>
              <a:t>Transforms fragmented and unstructured financial records into a clear representation of the user's actual income and financial activity.</a:t>
            </a:r>
          </a:p>
          <a:p>
            <a:pPr marL="0" indent="0">
              <a:buNone/>
            </a:pPr>
            <a:r>
              <a:rPr lang="en-IN" sz="2400" b="0" dirty="0"/>
              <a:t>Function:</a:t>
            </a:r>
          </a:p>
          <a:p>
            <a:r>
              <a:rPr lang="en-IN" sz="2400" b="0" dirty="0"/>
              <a:t>Identify income and expenses</a:t>
            </a:r>
          </a:p>
          <a:p>
            <a:r>
              <a:rPr lang="en-IN" sz="2400" b="0" dirty="0" err="1"/>
              <a:t>analyze</a:t>
            </a:r>
            <a:r>
              <a:rPr lang="en-IN" sz="2400" b="0" dirty="0"/>
              <a:t> cash flow</a:t>
            </a:r>
          </a:p>
          <a:p>
            <a:r>
              <a:rPr lang="en-IN" sz="2400" b="0" dirty="0"/>
              <a:t>detect recurring transactions</a:t>
            </a:r>
          </a:p>
          <a:p>
            <a:r>
              <a:rPr lang="en-IN" sz="2400" b="0" dirty="0"/>
              <a:t>measure income stability, volatility, and seasonality.</a:t>
            </a:r>
          </a:p>
          <a:p>
            <a:pPr marL="0" indent="0">
              <a:buNone/>
            </a:pPr>
            <a:r>
              <a:rPr lang="en-IN" sz="2400" b="0" dirty="0"/>
              <a:t>Output:</a:t>
            </a:r>
            <a:br>
              <a:rPr lang="en-IN" sz="2400" b="0" dirty="0"/>
            </a:br>
            <a:r>
              <a:rPr lang="en-IN" sz="2400" b="0" dirty="0"/>
              <a:t>A reconstructed financial profile with key income, expense, and cash-flow insights.</a:t>
            </a:r>
          </a:p>
          <a:p>
            <a:pPr marL="457200" lvl="1" indent="0">
              <a:buNone/>
            </a:pPr>
            <a:endParaRPr lang="en-US" dirty="0">
              <a:solidFill>
                <a:srgbClr val="1C3898"/>
              </a:solidFill>
            </a:endParaRPr>
          </a:p>
        </p:txBody>
      </p:sp>
      <p:sp>
        <p:nvSpPr>
          <p:cNvPr id="3" name="TextBox 2">
            <a:extLst>
              <a:ext uri="{FF2B5EF4-FFF2-40B4-BE49-F238E27FC236}">
                <a16:creationId xmlns:a16="http://schemas.microsoft.com/office/drawing/2014/main" id="{8B127C08-9484-8DB0-632F-2093157F52F5}"/>
              </a:ext>
            </a:extLst>
          </p:cNvPr>
          <p:cNvSpPr txBox="1"/>
          <p:nvPr/>
        </p:nvSpPr>
        <p:spPr>
          <a:xfrm>
            <a:off x="255996" y="502545"/>
            <a:ext cx="10624338" cy="646331"/>
          </a:xfrm>
          <a:prstGeom prst="rect">
            <a:avLst/>
          </a:prstGeom>
          <a:noFill/>
        </p:spPr>
        <p:txBody>
          <a:bodyPr wrap="square" rtlCol="0">
            <a:spAutoFit/>
          </a:bodyPr>
          <a:lstStyle/>
          <a:p>
            <a:pPr lvl="0">
              <a:defRPr/>
            </a:pPr>
            <a:r>
              <a:rPr lang="en-IN" sz="3600" b="1" dirty="0">
                <a:solidFill>
                  <a:srgbClr val="1F4E79"/>
                </a:solidFill>
              </a:rPr>
              <a:t>Income Reconstruction &amp; Financial Intelligence</a:t>
            </a:r>
            <a:endParaRPr kumimoji="0" lang="en-US" sz="3600" b="1" i="0" u="none" strike="noStrike" kern="1200" cap="none" spc="0" normalizeH="0" baseline="0" noProof="0" dirty="0">
              <a:ln>
                <a:noFill/>
              </a:ln>
              <a:solidFill>
                <a:srgbClr val="1F4E79"/>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D8DB91A6-A7B0-8168-1D98-31EAE33ADE7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B10A75B-A5CF-5938-1113-BDF61E00CE5C}"/>
              </a:ext>
            </a:extLst>
          </p:cNvPr>
          <p:cNvSpPr txBox="1"/>
          <p:nvPr/>
        </p:nvSpPr>
        <p:spPr>
          <a:xfrm>
            <a:off x="2933395" y="57036"/>
            <a:ext cx="9429293" cy="646331"/>
          </a:xfrm>
          <a:prstGeom prst="rect">
            <a:avLst/>
          </a:prstGeom>
          <a:noFill/>
        </p:spPr>
        <p:txBody>
          <a:bodyPr wrap="square" rtlCol="0">
            <a:spAutoFit/>
          </a:bodyPr>
          <a:lstStyle/>
          <a:p>
            <a:r>
              <a:rPr lang="en-IN" b="1" dirty="0" err="1">
                <a:solidFill>
                  <a:schemeClr val="bg1"/>
                </a:solidFill>
              </a:rPr>
              <a:t>CashFlow</a:t>
            </a:r>
            <a:r>
              <a:rPr lang="en-IN" b="1" dirty="0">
                <a:solidFill>
                  <a:schemeClr val="bg1"/>
                </a:solidFill>
              </a:rPr>
              <a:t> : An AI System for Reconstructing Income, Credit Scoring, and Cash-Flow Management</a:t>
            </a:r>
            <a:endParaRPr lang="en-IN" dirty="0">
              <a:solidFill>
                <a:schemeClr val="bg1"/>
              </a:solidFill>
            </a:endParaRPr>
          </a:p>
          <a:p>
            <a:pPr algn="r"/>
            <a:endParaRPr lang="en-US" dirty="0"/>
          </a:p>
        </p:txBody>
      </p:sp>
    </p:spTree>
    <p:extLst>
      <p:ext uri="{BB962C8B-B14F-4D97-AF65-F5344CB8AC3E}">
        <p14:creationId xmlns:p14="http://schemas.microsoft.com/office/powerpoint/2010/main" val="32879056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B3DB8-8034-F365-8018-B262315376E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13C7364-2450-47D5-F5FA-D5EF25806FEC}"/>
              </a:ext>
            </a:extLst>
          </p:cNvPr>
          <p:cNvSpPr>
            <a:spLocks noGrp="1"/>
          </p:cNvSpPr>
          <p:nvPr>
            <p:ph type="body" sz="quarter" idx="13"/>
          </p:nvPr>
        </p:nvSpPr>
        <p:spPr>
          <a:xfrm>
            <a:off x="255996" y="1271218"/>
            <a:ext cx="10624338" cy="4580939"/>
          </a:xfrm>
        </p:spPr>
        <p:txBody>
          <a:bodyPr/>
          <a:lstStyle/>
          <a:p>
            <a:pPr marL="0" indent="0">
              <a:buNone/>
            </a:pPr>
            <a:r>
              <a:rPr lang="en-IN" sz="2400" b="0" dirty="0">
                <a:latin typeface="+mn-lt"/>
              </a:rPr>
              <a:t>Description:</a:t>
            </a:r>
            <a:br>
              <a:rPr lang="en-IN" sz="2400" b="0" dirty="0">
                <a:latin typeface="+mn-lt"/>
              </a:rPr>
            </a:br>
            <a:r>
              <a:rPr lang="en-IN" sz="2400" b="0" dirty="0">
                <a:latin typeface="+mn-lt"/>
              </a:rPr>
              <a:t>Evaluates the user's creditworthiness using reconstructed financial data and </a:t>
            </a:r>
            <a:r>
              <a:rPr lang="en-IN" sz="2400" b="0" dirty="0" err="1">
                <a:latin typeface="+mn-lt"/>
              </a:rPr>
              <a:t>behavioral</a:t>
            </a:r>
            <a:r>
              <a:rPr lang="en-IN" sz="2400" b="0" dirty="0">
                <a:latin typeface="+mn-lt"/>
              </a:rPr>
              <a:t> indicators while ensuring that the scoring process remains transparent and understandable.</a:t>
            </a:r>
          </a:p>
          <a:p>
            <a:pPr marL="0" indent="0">
              <a:buNone/>
            </a:pPr>
            <a:r>
              <a:rPr lang="en-IN" sz="2400" b="0" dirty="0">
                <a:latin typeface="+mn-lt"/>
              </a:rPr>
              <a:t>Function:</a:t>
            </a:r>
          </a:p>
          <a:p>
            <a:r>
              <a:rPr lang="en-IN" sz="2400" b="0" dirty="0">
                <a:latin typeface="+mn-lt"/>
              </a:rPr>
              <a:t>Generate a credit score</a:t>
            </a:r>
          </a:p>
          <a:p>
            <a:r>
              <a:rPr lang="en-IN" sz="2400" b="0" dirty="0">
                <a:latin typeface="+mn-lt"/>
              </a:rPr>
              <a:t>identify the factors influencing it</a:t>
            </a:r>
          </a:p>
          <a:p>
            <a:r>
              <a:rPr lang="en-IN" sz="2400" b="0" dirty="0">
                <a:latin typeface="+mn-lt"/>
              </a:rPr>
              <a:t>provide personalized recommendations for improvement.</a:t>
            </a:r>
          </a:p>
          <a:p>
            <a:pPr marL="0" indent="0">
              <a:buNone/>
            </a:pPr>
            <a:r>
              <a:rPr lang="en-IN" sz="2400" b="0" dirty="0">
                <a:latin typeface="+mn-lt"/>
              </a:rPr>
              <a:t>Output:</a:t>
            </a:r>
            <a:br>
              <a:rPr lang="en-IN" sz="2400" b="0" dirty="0">
                <a:latin typeface="+mn-lt"/>
              </a:rPr>
            </a:br>
            <a:r>
              <a:rPr lang="en-IN" sz="2400" b="0" dirty="0">
                <a:latin typeface="+mn-lt"/>
              </a:rPr>
              <a:t>An explainable credit score with factor-wise explanations and an actionable improvement roadmap.</a:t>
            </a:r>
          </a:p>
          <a:p>
            <a:pPr marL="457200" lvl="1" indent="0">
              <a:buNone/>
            </a:pPr>
            <a:endParaRPr lang="en-US" dirty="0">
              <a:solidFill>
                <a:srgbClr val="1C3898"/>
              </a:solidFill>
            </a:endParaRPr>
          </a:p>
        </p:txBody>
      </p:sp>
      <p:sp>
        <p:nvSpPr>
          <p:cNvPr id="3" name="TextBox 2">
            <a:extLst>
              <a:ext uri="{FF2B5EF4-FFF2-40B4-BE49-F238E27FC236}">
                <a16:creationId xmlns:a16="http://schemas.microsoft.com/office/drawing/2014/main" id="{992B624E-0AEB-D6B4-88EC-CE3638B91E09}"/>
              </a:ext>
            </a:extLst>
          </p:cNvPr>
          <p:cNvSpPr txBox="1"/>
          <p:nvPr/>
        </p:nvSpPr>
        <p:spPr>
          <a:xfrm>
            <a:off x="255996" y="502545"/>
            <a:ext cx="10624338" cy="646331"/>
          </a:xfrm>
          <a:prstGeom prst="rect">
            <a:avLst/>
          </a:prstGeom>
          <a:noFill/>
        </p:spPr>
        <p:txBody>
          <a:bodyPr wrap="square" rtlCol="0">
            <a:spAutoFit/>
          </a:bodyPr>
          <a:lstStyle/>
          <a:p>
            <a:pPr lvl="0">
              <a:defRPr/>
            </a:pPr>
            <a:r>
              <a:rPr lang="en-IN" sz="3600" b="1" dirty="0">
                <a:solidFill>
                  <a:srgbClr val="1F4E79"/>
                </a:solidFill>
              </a:rPr>
              <a:t>Explainable Credit Scoring</a:t>
            </a:r>
            <a:endParaRPr kumimoji="0" lang="en-US" sz="3600" b="1" i="0" u="none" strike="noStrike" kern="1200" cap="none" spc="0" normalizeH="0" baseline="0" noProof="0" dirty="0">
              <a:ln>
                <a:noFill/>
              </a:ln>
              <a:solidFill>
                <a:srgbClr val="1F4E79"/>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80EF3B3C-F34B-4223-25DF-BC8F2E4E83A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29EB889-8D5A-72C0-1A36-84E276854E44}"/>
              </a:ext>
            </a:extLst>
          </p:cNvPr>
          <p:cNvSpPr txBox="1"/>
          <p:nvPr/>
        </p:nvSpPr>
        <p:spPr>
          <a:xfrm>
            <a:off x="2933395" y="57036"/>
            <a:ext cx="9429293" cy="646331"/>
          </a:xfrm>
          <a:prstGeom prst="rect">
            <a:avLst/>
          </a:prstGeom>
          <a:noFill/>
        </p:spPr>
        <p:txBody>
          <a:bodyPr wrap="square" rtlCol="0">
            <a:spAutoFit/>
          </a:bodyPr>
          <a:lstStyle/>
          <a:p>
            <a:r>
              <a:rPr lang="en-IN" b="1" dirty="0" err="1">
                <a:solidFill>
                  <a:schemeClr val="bg1"/>
                </a:solidFill>
              </a:rPr>
              <a:t>CashFlow</a:t>
            </a:r>
            <a:r>
              <a:rPr lang="en-IN" b="1" dirty="0">
                <a:solidFill>
                  <a:schemeClr val="bg1"/>
                </a:solidFill>
              </a:rPr>
              <a:t> : An AI System for Reconstructing Income, Credit Scoring, and Cash-Flow Management</a:t>
            </a:r>
            <a:endParaRPr lang="en-IN" dirty="0">
              <a:solidFill>
                <a:schemeClr val="bg1"/>
              </a:solidFill>
            </a:endParaRPr>
          </a:p>
          <a:p>
            <a:pPr algn="r"/>
            <a:endParaRPr lang="en-US" dirty="0"/>
          </a:p>
        </p:txBody>
      </p:sp>
    </p:spTree>
    <p:extLst>
      <p:ext uri="{BB962C8B-B14F-4D97-AF65-F5344CB8AC3E}">
        <p14:creationId xmlns:p14="http://schemas.microsoft.com/office/powerpoint/2010/main" val="38155496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58A60-4AC8-F296-9446-6E32097A080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A42C80B-8A73-2DDD-EF4C-EAAAD1F57D4F}"/>
              </a:ext>
            </a:extLst>
          </p:cNvPr>
          <p:cNvSpPr>
            <a:spLocks noGrp="1"/>
          </p:cNvSpPr>
          <p:nvPr>
            <p:ph type="body" sz="quarter" idx="13"/>
          </p:nvPr>
        </p:nvSpPr>
        <p:spPr>
          <a:xfrm>
            <a:off x="255996" y="1271218"/>
            <a:ext cx="10624338" cy="4456581"/>
          </a:xfrm>
        </p:spPr>
        <p:txBody>
          <a:bodyPr/>
          <a:lstStyle/>
          <a:p>
            <a:pPr marL="0" indent="0">
              <a:buNone/>
            </a:pPr>
            <a:r>
              <a:rPr lang="en-IN" sz="2400" b="0" dirty="0">
                <a:latin typeface="+mn-lt"/>
              </a:rPr>
              <a:t>Description:</a:t>
            </a:r>
            <a:br>
              <a:rPr lang="en-IN" sz="2400" b="0" dirty="0">
                <a:latin typeface="+mn-lt"/>
              </a:rPr>
            </a:br>
            <a:r>
              <a:rPr lang="en-IN" sz="2400" b="0" dirty="0">
                <a:latin typeface="+mn-lt"/>
              </a:rPr>
              <a:t>Uses specialized AI agents to proactively monitor, predict, and improve the user's day-to-day cash-flow management.</a:t>
            </a:r>
          </a:p>
          <a:p>
            <a:pPr marL="0" indent="0">
              <a:buNone/>
            </a:pPr>
            <a:r>
              <a:rPr lang="en-IN" sz="2400" b="0" dirty="0">
                <a:latin typeface="+mn-lt"/>
              </a:rPr>
              <a:t>Function:</a:t>
            </a:r>
          </a:p>
          <a:p>
            <a:r>
              <a:rPr lang="en-IN" sz="2400" b="0" dirty="0">
                <a:latin typeface="+mn-lt"/>
              </a:rPr>
              <a:t>Receivables Chaser: Tracks overdue payments and prepares reminders. </a:t>
            </a:r>
          </a:p>
          <a:p>
            <a:r>
              <a:rPr lang="en-IN" sz="2400" b="0" dirty="0">
                <a:latin typeface="+mn-lt"/>
              </a:rPr>
              <a:t>Cash Flow Forecaster: Predicts future income, expenses, and possible cash shortages. </a:t>
            </a:r>
          </a:p>
          <a:p>
            <a:r>
              <a:rPr lang="en-IN" sz="2400" b="0" dirty="0">
                <a:latin typeface="+mn-lt"/>
              </a:rPr>
              <a:t>Payment Terms Negotiator: Recommends suitable payment schedules and terms. </a:t>
            </a:r>
          </a:p>
          <a:p>
            <a:pPr marL="0" indent="0">
              <a:buNone/>
            </a:pPr>
            <a:r>
              <a:rPr lang="en-IN" sz="2400" b="0" dirty="0">
                <a:latin typeface="+mn-lt"/>
              </a:rPr>
              <a:t>Output:</a:t>
            </a:r>
            <a:br>
              <a:rPr lang="en-IN" sz="2400" b="0" dirty="0">
                <a:latin typeface="+mn-lt"/>
              </a:rPr>
            </a:br>
            <a:r>
              <a:rPr lang="en-IN" sz="2400" b="0" dirty="0">
                <a:latin typeface="+mn-lt"/>
              </a:rPr>
              <a:t>Proactive cash-flow alerts, payment follow-up recommendations, forecasts, and optimized payment-term suggestions.</a:t>
            </a:r>
          </a:p>
          <a:p>
            <a:pPr marL="457200" lvl="1" indent="0">
              <a:buNone/>
            </a:pPr>
            <a:endParaRPr lang="en-US" dirty="0">
              <a:solidFill>
                <a:srgbClr val="1C3898"/>
              </a:solidFill>
            </a:endParaRPr>
          </a:p>
        </p:txBody>
      </p:sp>
      <p:sp>
        <p:nvSpPr>
          <p:cNvPr id="3" name="TextBox 2">
            <a:extLst>
              <a:ext uri="{FF2B5EF4-FFF2-40B4-BE49-F238E27FC236}">
                <a16:creationId xmlns:a16="http://schemas.microsoft.com/office/drawing/2014/main" id="{D2A67E33-8E30-6A65-7E81-1423247077C5}"/>
              </a:ext>
            </a:extLst>
          </p:cNvPr>
          <p:cNvSpPr txBox="1"/>
          <p:nvPr/>
        </p:nvSpPr>
        <p:spPr>
          <a:xfrm>
            <a:off x="255996" y="502545"/>
            <a:ext cx="10624338" cy="646331"/>
          </a:xfrm>
          <a:prstGeom prst="rect">
            <a:avLst/>
          </a:prstGeom>
          <a:noFill/>
        </p:spPr>
        <p:txBody>
          <a:bodyPr wrap="square" rtlCol="0">
            <a:spAutoFit/>
          </a:bodyPr>
          <a:lstStyle/>
          <a:p>
            <a:pPr lvl="0">
              <a:defRPr/>
            </a:pPr>
            <a:r>
              <a:rPr lang="en-IN" sz="3600" b="1" dirty="0">
                <a:solidFill>
                  <a:srgbClr val="1F4E79"/>
                </a:solidFill>
              </a:rPr>
              <a:t>Agentic Cash Flow Management</a:t>
            </a:r>
            <a:endParaRPr kumimoji="0" lang="en-US" sz="3600" b="1" i="0" u="none" strike="noStrike" kern="1200" cap="none" spc="0" normalizeH="0" baseline="0" noProof="0" dirty="0">
              <a:ln>
                <a:noFill/>
              </a:ln>
              <a:solidFill>
                <a:srgbClr val="1F4E79"/>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3B0761A5-2BB0-427D-BB51-493C4671245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5672DAF-A513-699D-BEC8-B405F3C5C2AF}"/>
              </a:ext>
            </a:extLst>
          </p:cNvPr>
          <p:cNvSpPr txBox="1"/>
          <p:nvPr/>
        </p:nvSpPr>
        <p:spPr>
          <a:xfrm>
            <a:off x="2933395" y="57036"/>
            <a:ext cx="9429293" cy="646331"/>
          </a:xfrm>
          <a:prstGeom prst="rect">
            <a:avLst/>
          </a:prstGeom>
          <a:noFill/>
        </p:spPr>
        <p:txBody>
          <a:bodyPr wrap="square" rtlCol="0">
            <a:spAutoFit/>
          </a:bodyPr>
          <a:lstStyle/>
          <a:p>
            <a:r>
              <a:rPr lang="en-IN" b="1" dirty="0" err="1">
                <a:solidFill>
                  <a:schemeClr val="bg1"/>
                </a:solidFill>
              </a:rPr>
              <a:t>CashFlow</a:t>
            </a:r>
            <a:r>
              <a:rPr lang="en-IN" b="1" dirty="0">
                <a:solidFill>
                  <a:schemeClr val="bg1"/>
                </a:solidFill>
              </a:rPr>
              <a:t> : An AI System for Reconstructing Income, Credit Scoring, and Cash-Flow Management</a:t>
            </a:r>
            <a:endParaRPr lang="en-IN" dirty="0">
              <a:solidFill>
                <a:schemeClr val="bg1"/>
              </a:solidFill>
            </a:endParaRPr>
          </a:p>
          <a:p>
            <a:pPr algn="r"/>
            <a:endParaRPr lang="en-US" dirty="0"/>
          </a:p>
        </p:txBody>
      </p:sp>
    </p:spTree>
    <p:extLst>
      <p:ext uri="{BB962C8B-B14F-4D97-AF65-F5344CB8AC3E}">
        <p14:creationId xmlns:p14="http://schemas.microsoft.com/office/powerpoint/2010/main" val="8097178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2C6F9-9C5E-D4CC-1F40-9EE61FA96E2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696355F-BA2F-2F91-A009-EC4166071E67}"/>
              </a:ext>
            </a:extLst>
          </p:cNvPr>
          <p:cNvSpPr>
            <a:spLocks noGrp="1"/>
          </p:cNvSpPr>
          <p:nvPr>
            <p:ph type="body" sz="quarter" idx="13"/>
          </p:nvPr>
        </p:nvSpPr>
        <p:spPr>
          <a:xfrm>
            <a:off x="255996" y="1271219"/>
            <a:ext cx="10624338" cy="3747008"/>
          </a:xfrm>
        </p:spPr>
        <p:txBody>
          <a:bodyPr/>
          <a:lstStyle/>
          <a:p>
            <a:pPr marL="0" indent="0">
              <a:buNone/>
            </a:pPr>
            <a:r>
              <a:rPr lang="en-IN" sz="2400" b="0" dirty="0">
                <a:latin typeface="+mn-lt"/>
              </a:rPr>
              <a:t>Description:</a:t>
            </a:r>
            <a:br>
              <a:rPr lang="en-IN" sz="2400" b="0" dirty="0">
                <a:latin typeface="+mn-lt"/>
              </a:rPr>
            </a:br>
            <a:r>
              <a:rPr lang="en-IN" sz="2400" b="0" dirty="0">
                <a:latin typeface="+mn-lt"/>
              </a:rPr>
              <a:t>Coordinates the outputs of multiple AI agents and ensures that users maintain control over important financial and customer-facing actions.</a:t>
            </a:r>
          </a:p>
          <a:p>
            <a:pPr marL="0" indent="0">
              <a:buNone/>
            </a:pPr>
            <a:r>
              <a:rPr lang="en-IN" sz="2400" b="0" dirty="0">
                <a:latin typeface="+mn-lt"/>
              </a:rPr>
              <a:t>Function:</a:t>
            </a:r>
          </a:p>
          <a:p>
            <a:r>
              <a:rPr lang="en-IN" sz="2400" b="0" dirty="0">
                <a:latin typeface="+mn-lt"/>
              </a:rPr>
              <a:t>Combine agent recommendations</a:t>
            </a:r>
          </a:p>
          <a:p>
            <a:r>
              <a:rPr lang="en-IN" sz="2400" b="0" dirty="0">
                <a:latin typeface="+mn-lt"/>
              </a:rPr>
              <a:t>resolve conflicts, prioritize actions</a:t>
            </a:r>
          </a:p>
          <a:p>
            <a:r>
              <a:rPr lang="en-IN" sz="2400" b="0" dirty="0">
                <a:latin typeface="+mn-lt"/>
              </a:rPr>
              <a:t>route high-impact actions through an approval workflow.</a:t>
            </a:r>
          </a:p>
          <a:p>
            <a:pPr marL="0" indent="0">
              <a:buNone/>
            </a:pPr>
            <a:r>
              <a:rPr lang="en-IN" sz="2400" b="0" dirty="0">
                <a:latin typeface="+mn-lt"/>
              </a:rPr>
              <a:t>Output:</a:t>
            </a:r>
            <a:br>
              <a:rPr lang="en-IN" sz="2400" b="0" dirty="0">
                <a:latin typeface="+mn-lt"/>
              </a:rPr>
            </a:br>
            <a:r>
              <a:rPr lang="en-IN" sz="2400" b="0" dirty="0">
                <a:latin typeface="+mn-lt"/>
              </a:rPr>
              <a:t>A single prioritized action plan with user-approved actions ready for execution.</a:t>
            </a:r>
          </a:p>
          <a:p>
            <a:pPr marL="457200" lvl="1" indent="0">
              <a:buNone/>
            </a:pPr>
            <a:endParaRPr lang="en-US" dirty="0">
              <a:solidFill>
                <a:srgbClr val="1C3898"/>
              </a:solidFill>
            </a:endParaRPr>
          </a:p>
        </p:txBody>
      </p:sp>
      <p:sp>
        <p:nvSpPr>
          <p:cNvPr id="3" name="TextBox 2">
            <a:extLst>
              <a:ext uri="{FF2B5EF4-FFF2-40B4-BE49-F238E27FC236}">
                <a16:creationId xmlns:a16="http://schemas.microsoft.com/office/drawing/2014/main" id="{AC02B1BD-9A3E-2CD3-D091-017254D9A906}"/>
              </a:ext>
            </a:extLst>
          </p:cNvPr>
          <p:cNvSpPr txBox="1"/>
          <p:nvPr/>
        </p:nvSpPr>
        <p:spPr>
          <a:xfrm>
            <a:off x="255996" y="502545"/>
            <a:ext cx="10624338" cy="646331"/>
          </a:xfrm>
          <a:prstGeom prst="rect">
            <a:avLst/>
          </a:prstGeom>
          <a:noFill/>
        </p:spPr>
        <p:txBody>
          <a:bodyPr wrap="square" rtlCol="0">
            <a:spAutoFit/>
          </a:bodyPr>
          <a:lstStyle/>
          <a:p>
            <a:pPr lvl="0">
              <a:defRPr/>
            </a:pPr>
            <a:r>
              <a:rPr lang="en-IN" sz="3600" b="1" dirty="0">
                <a:solidFill>
                  <a:srgbClr val="1F4E79"/>
                </a:solidFill>
              </a:rPr>
              <a:t>Multi-Agent Orchestration &amp; Human Approval</a:t>
            </a:r>
            <a:endParaRPr kumimoji="0" lang="en-US" sz="3600" b="1" i="0" u="none" strike="noStrike" kern="1200" cap="none" spc="0" normalizeH="0" baseline="0" noProof="0" dirty="0">
              <a:ln>
                <a:noFill/>
              </a:ln>
              <a:solidFill>
                <a:srgbClr val="1F4E79"/>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D98E9988-FEC5-003C-7CCE-1E3EE92468E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4165E36-F52F-CE3F-4FD3-FCB6F0099AE7}"/>
              </a:ext>
            </a:extLst>
          </p:cNvPr>
          <p:cNvSpPr txBox="1"/>
          <p:nvPr/>
        </p:nvSpPr>
        <p:spPr>
          <a:xfrm>
            <a:off x="2933395" y="57036"/>
            <a:ext cx="9429293" cy="646331"/>
          </a:xfrm>
          <a:prstGeom prst="rect">
            <a:avLst/>
          </a:prstGeom>
          <a:noFill/>
        </p:spPr>
        <p:txBody>
          <a:bodyPr wrap="square" rtlCol="0">
            <a:spAutoFit/>
          </a:bodyPr>
          <a:lstStyle/>
          <a:p>
            <a:r>
              <a:rPr lang="en-IN" b="1" dirty="0" err="1">
                <a:solidFill>
                  <a:schemeClr val="bg1"/>
                </a:solidFill>
              </a:rPr>
              <a:t>CashFlow</a:t>
            </a:r>
            <a:r>
              <a:rPr lang="en-IN" b="1" dirty="0">
                <a:solidFill>
                  <a:schemeClr val="bg1"/>
                </a:solidFill>
              </a:rPr>
              <a:t> : An AI System for Reconstructing Income, Credit Scoring, and Cash-Flow Management</a:t>
            </a:r>
            <a:endParaRPr lang="en-IN" dirty="0">
              <a:solidFill>
                <a:schemeClr val="bg1"/>
              </a:solidFill>
            </a:endParaRPr>
          </a:p>
          <a:p>
            <a:pPr algn="r"/>
            <a:endParaRPr lang="en-US" dirty="0"/>
          </a:p>
        </p:txBody>
      </p:sp>
    </p:spTree>
    <p:extLst>
      <p:ext uri="{BB962C8B-B14F-4D97-AF65-F5344CB8AC3E}">
        <p14:creationId xmlns:p14="http://schemas.microsoft.com/office/powerpoint/2010/main" val="22985367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322B3-B3C2-84A3-2A25-567CF91B5B5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2E53EA8-EEB9-ACD2-81F0-6A45E602A508}"/>
              </a:ext>
            </a:extLst>
          </p:cNvPr>
          <p:cNvSpPr>
            <a:spLocks noGrp="1"/>
          </p:cNvSpPr>
          <p:nvPr>
            <p:ph type="body" sz="quarter" idx="13"/>
          </p:nvPr>
        </p:nvSpPr>
        <p:spPr>
          <a:xfrm>
            <a:off x="255996" y="1271219"/>
            <a:ext cx="10624338" cy="3747008"/>
          </a:xfrm>
        </p:spPr>
        <p:txBody>
          <a:bodyPr/>
          <a:lstStyle/>
          <a:p>
            <a:pPr marL="0" indent="0">
              <a:buNone/>
            </a:pPr>
            <a:r>
              <a:rPr lang="en-IN" sz="2400" b="0" dirty="0">
                <a:latin typeface="+mn-lt"/>
              </a:rPr>
              <a:t>Description:</a:t>
            </a:r>
            <a:br>
              <a:rPr lang="en-IN" sz="2400" b="0" dirty="0">
                <a:latin typeface="+mn-lt"/>
              </a:rPr>
            </a:br>
            <a:r>
              <a:rPr lang="en-IN" sz="2400" b="0" dirty="0">
                <a:latin typeface="+mn-lt"/>
              </a:rPr>
              <a:t>Provides a centralized interface where users can understand their financial health and interact with insights generated by the platform.</a:t>
            </a:r>
          </a:p>
          <a:p>
            <a:pPr marL="0" indent="0">
              <a:buNone/>
            </a:pPr>
            <a:r>
              <a:rPr lang="en-IN" sz="2400" b="0" dirty="0">
                <a:latin typeface="+mn-lt"/>
              </a:rPr>
              <a:t>Function:</a:t>
            </a:r>
            <a:br>
              <a:rPr lang="en-IN" sz="2400" b="0" dirty="0">
                <a:latin typeface="+mn-lt"/>
              </a:rPr>
            </a:br>
            <a:r>
              <a:rPr lang="en-IN" sz="2400" b="0" dirty="0">
                <a:latin typeface="+mn-lt"/>
              </a:rPr>
              <a:t>Display income insights, credit scores, cash-flow forecasts, receivables, agent recommendations, and approval requests.</a:t>
            </a:r>
          </a:p>
          <a:p>
            <a:pPr marL="0" indent="0">
              <a:buNone/>
            </a:pPr>
            <a:r>
              <a:rPr lang="en-IN" sz="2400" b="0" dirty="0">
                <a:latin typeface="+mn-lt"/>
              </a:rPr>
              <a:t>Output:</a:t>
            </a:r>
            <a:br>
              <a:rPr lang="en-IN" sz="2400" b="0" dirty="0">
                <a:latin typeface="+mn-lt"/>
              </a:rPr>
            </a:br>
            <a:r>
              <a:rPr lang="en-IN" sz="2400" b="0" dirty="0">
                <a:latin typeface="+mn-lt"/>
              </a:rPr>
              <a:t>A unified dashboard providing a complete view of the user's financial position and recommended next actions.</a:t>
            </a:r>
          </a:p>
          <a:p>
            <a:pPr marL="457200" lvl="1" indent="0">
              <a:buNone/>
            </a:pPr>
            <a:endParaRPr lang="en-US" dirty="0">
              <a:solidFill>
                <a:srgbClr val="1C3898"/>
              </a:solidFill>
            </a:endParaRPr>
          </a:p>
        </p:txBody>
      </p:sp>
      <p:sp>
        <p:nvSpPr>
          <p:cNvPr id="3" name="TextBox 2">
            <a:extLst>
              <a:ext uri="{FF2B5EF4-FFF2-40B4-BE49-F238E27FC236}">
                <a16:creationId xmlns:a16="http://schemas.microsoft.com/office/drawing/2014/main" id="{3B86FBD2-FB7A-44E4-A509-D8FEB4F2BD2D}"/>
              </a:ext>
            </a:extLst>
          </p:cNvPr>
          <p:cNvSpPr txBox="1"/>
          <p:nvPr/>
        </p:nvSpPr>
        <p:spPr>
          <a:xfrm>
            <a:off x="255996" y="502545"/>
            <a:ext cx="10624338" cy="646331"/>
          </a:xfrm>
          <a:prstGeom prst="rect">
            <a:avLst/>
          </a:prstGeom>
          <a:noFill/>
        </p:spPr>
        <p:txBody>
          <a:bodyPr wrap="square" rtlCol="0">
            <a:spAutoFit/>
          </a:bodyPr>
          <a:lstStyle/>
          <a:p>
            <a:pPr lvl="0">
              <a:defRPr/>
            </a:pPr>
            <a:r>
              <a:rPr lang="en-IN" sz="3600" b="1" dirty="0">
                <a:solidFill>
                  <a:srgbClr val="1F4E79"/>
                </a:solidFill>
              </a:rPr>
              <a:t>Financial Dashboard &amp; User Interface</a:t>
            </a:r>
            <a:endParaRPr kumimoji="0" lang="en-US" sz="3600" b="1" i="0" u="none" strike="noStrike" kern="1200" cap="none" spc="0" normalizeH="0" baseline="0" noProof="0" dirty="0">
              <a:ln>
                <a:noFill/>
              </a:ln>
              <a:solidFill>
                <a:srgbClr val="1F4E79"/>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9C375C2C-134D-70F9-2050-0AFA1908888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362AA1D-ACB3-9495-6AFF-21EFB65FC646}"/>
              </a:ext>
            </a:extLst>
          </p:cNvPr>
          <p:cNvSpPr txBox="1"/>
          <p:nvPr/>
        </p:nvSpPr>
        <p:spPr>
          <a:xfrm>
            <a:off x="2933395" y="57036"/>
            <a:ext cx="9429293" cy="646331"/>
          </a:xfrm>
          <a:prstGeom prst="rect">
            <a:avLst/>
          </a:prstGeom>
          <a:noFill/>
        </p:spPr>
        <p:txBody>
          <a:bodyPr wrap="square" rtlCol="0">
            <a:spAutoFit/>
          </a:bodyPr>
          <a:lstStyle/>
          <a:p>
            <a:r>
              <a:rPr lang="en-IN" b="1" dirty="0" err="1">
                <a:solidFill>
                  <a:schemeClr val="bg1"/>
                </a:solidFill>
              </a:rPr>
              <a:t>CashFlow</a:t>
            </a:r>
            <a:r>
              <a:rPr lang="en-IN" b="1" dirty="0">
                <a:solidFill>
                  <a:schemeClr val="bg1"/>
                </a:solidFill>
              </a:rPr>
              <a:t> : An AI System for Reconstructing Income, Credit Scoring, and Cash-Flow Management</a:t>
            </a:r>
            <a:endParaRPr lang="en-IN" dirty="0">
              <a:solidFill>
                <a:schemeClr val="bg1"/>
              </a:solidFill>
            </a:endParaRPr>
          </a:p>
          <a:p>
            <a:pPr algn="r"/>
            <a:endParaRPr lang="en-US" dirty="0"/>
          </a:p>
        </p:txBody>
      </p:sp>
    </p:spTree>
    <p:extLst>
      <p:ext uri="{BB962C8B-B14F-4D97-AF65-F5344CB8AC3E}">
        <p14:creationId xmlns:p14="http://schemas.microsoft.com/office/powerpoint/2010/main" val="37234311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328</TotalTime>
  <Words>1849</Words>
  <Application>Microsoft Office PowerPoint</Application>
  <PresentationFormat>Widescreen</PresentationFormat>
  <Paragraphs>162</Paragraphs>
  <Slides>18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Liya Elizabeth Raju</cp:lastModifiedBy>
  <cp:revision>19</cp:revision>
  <dcterms:created xsi:type="dcterms:W3CDTF">2024-05-13T10:33:11Z</dcterms:created>
  <dcterms:modified xsi:type="dcterms:W3CDTF">2026-09-11T03:55:13Z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