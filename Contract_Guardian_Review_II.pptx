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9B920A-CE72-4445-8ADA-0B9C87F15B63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AD789-092E-4AB3-BBDD-9C7A43776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67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60899-AA6C-4719-B01B-808441E59C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333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</a:rPr>
              <a:t>Contract Guardian :</a:t>
            </a:r>
            <a:endParaRPr lang="en-IN" sz="3600" dirty="0">
              <a:solidFill>
                <a:schemeClr val="bg1"/>
              </a:solidFill>
            </a:endParaRPr>
          </a:p>
          <a:p>
            <a:pPr algn="ctr"/>
            <a:r>
              <a:rPr lang="en-IN" sz="3600" b="1" dirty="0">
                <a:solidFill>
                  <a:schemeClr val="bg1"/>
                </a:solidFill>
              </a:rPr>
              <a:t>An AI System for Contract Risk Detection, Longitudinal Drift Tracking, and Regulatory Change Ripple Mapping</a:t>
            </a:r>
            <a:endParaRPr lang="en-IN" sz="3600" dirty="0">
              <a:solidFill>
                <a:schemeClr val="bg1"/>
              </a:solidFill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LIYA ELIZABETH RAJU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F8F956-978E-8352-7735-007935FBE3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202" b="25961"/>
          <a:stretch>
            <a:fillRect/>
          </a:stretch>
        </p:blipFill>
        <p:spPr>
          <a:xfrm>
            <a:off x="148893" y="5852667"/>
            <a:ext cx="2447521" cy="91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889736"/>
          </a:xfrm>
        </p:spPr>
        <p:txBody>
          <a:bodyPr wrap="square" lIns="109728" tIns="54864" rIns="73152" bIns="54864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sz="2000" b="0" dirty="0">
                <a:latin typeface="+mn-lt"/>
              </a:rPr>
              <a:t>Contract Guardian is a document-intelligence platform for </a:t>
            </a:r>
            <a:r>
              <a:rPr sz="2000" b="0" dirty="0" err="1">
                <a:latin typeface="+mn-lt"/>
              </a:rPr>
              <a:t>analysing</a:t>
            </a:r>
            <a:r>
              <a:rPr sz="2000" b="0" dirty="0">
                <a:latin typeface="+mn-lt"/>
              </a:rPr>
              <a:t> contracts, Terms of Service and privacy policies.</a:t>
            </a:r>
            <a:endParaRPr lang="en-US" sz="2000" b="0" dirty="0">
              <a:solidFill>
                <a:srgbClr val="5583D1"/>
              </a:solidFill>
              <a:latin typeface="+mn-lt"/>
            </a:endParaRPr>
          </a:p>
          <a:p>
            <a:pPr>
              <a:spcAft>
                <a:spcPts val="800"/>
              </a:spcAft>
            </a:pPr>
            <a:r>
              <a:rPr sz="2000" b="0" dirty="0">
                <a:latin typeface="+mn-lt"/>
              </a:rPr>
              <a:t>The system combines document parsing, semantic retrieval, RAG and LLM-based reasoning to provide clause-level analysis.</a:t>
            </a:r>
          </a:p>
          <a:p>
            <a:pPr>
              <a:spcAft>
                <a:spcPts val="800"/>
              </a:spcAft>
            </a:pPr>
            <a:r>
              <a:rPr sz="2000" b="0" dirty="0">
                <a:latin typeface="+mn-lt"/>
              </a:rPr>
              <a:t>Three core capabilities:</a:t>
            </a:r>
          </a:p>
          <a:p>
            <a:pPr>
              <a:spcAft>
                <a:spcPts val="800"/>
              </a:spcAft>
            </a:pPr>
            <a:r>
              <a:rPr sz="2000" b="0" dirty="0">
                <a:latin typeface="+mn-lt"/>
              </a:rPr>
              <a:t>Clause Risk Highlighter — identifies potentially one-sided or risky clauses and explains the issue.</a:t>
            </a:r>
          </a:p>
          <a:p>
            <a:pPr>
              <a:spcAft>
                <a:spcPts val="800"/>
              </a:spcAft>
            </a:pPr>
            <a:r>
              <a:rPr sz="2000" b="0" dirty="0">
                <a:latin typeface="+mn-lt"/>
              </a:rPr>
              <a:t>Drift Tracker — compares document versions and identifies meaningful changes affecting user rights.</a:t>
            </a:r>
          </a:p>
          <a:p>
            <a:pPr>
              <a:spcAft>
                <a:spcPts val="800"/>
              </a:spcAft>
            </a:pPr>
            <a:r>
              <a:rPr sz="2000" b="0" dirty="0">
                <a:latin typeface="+mn-lt"/>
              </a:rPr>
              <a:t>Regulatory Ripple Mapper — connects regulations to affected clauses and documents through a knowledge graph.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000" b="1"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Contract Guardian (RAG-Powered)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Calibri"/>
              </a:rPr>
              <a:t>Contract Guardian • Review II • ~60% Completion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109728" tIns="54864" rIns="73152" bIns="54864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sz="2400" b="0" dirty="0">
                <a:latin typeface="+mn-lt"/>
              </a:rPr>
              <a:t>Build a reusable legal-document processing and RAG foundation.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>
              <a:spcAft>
                <a:spcPts val="800"/>
              </a:spcAft>
            </a:pPr>
            <a:r>
              <a:rPr sz="2400" b="0" dirty="0">
                <a:latin typeface="+mn-lt"/>
              </a:rPr>
              <a:t>Extract and segment contractual clauses from PDF, DOCX, HTML and TXT inputs.</a:t>
            </a:r>
          </a:p>
          <a:p>
            <a:pPr>
              <a:spcAft>
                <a:spcPts val="800"/>
              </a:spcAft>
            </a:pPr>
            <a:r>
              <a:rPr sz="2400" b="0" dirty="0">
                <a:latin typeface="+mn-lt"/>
              </a:rPr>
              <a:t>Construct a legal knowledge base containing regulations, guidance and benchmark/fair clauses.</a:t>
            </a:r>
          </a:p>
          <a:p>
            <a:pPr>
              <a:spcAft>
                <a:spcPts val="800"/>
              </a:spcAft>
            </a:pPr>
            <a:r>
              <a:rPr sz="2400" b="0" dirty="0">
                <a:latin typeface="+mn-lt"/>
              </a:rPr>
              <a:t>Develop semantic retrieval for finding relevant regulations and comparable clauses.</a:t>
            </a:r>
          </a:p>
          <a:p>
            <a:pPr>
              <a:spcAft>
                <a:spcPts val="800"/>
              </a:spcAft>
            </a:pPr>
            <a:r>
              <a:rPr sz="2400" b="0" dirty="0">
                <a:latin typeface="+mn-lt"/>
              </a:rPr>
              <a:t>Implement clause-level risk analysis with explanations and suggested revisions.</a:t>
            </a:r>
          </a:p>
          <a:p>
            <a:pPr>
              <a:spcAft>
                <a:spcPts val="800"/>
              </a:spcAft>
            </a:pPr>
            <a:r>
              <a:rPr sz="2400" b="0" dirty="0">
                <a:latin typeface="+mn-lt"/>
              </a:rPr>
              <a:t>Detect semantic changes between document versions and highlight rights-related drift.</a:t>
            </a:r>
          </a:p>
          <a:p>
            <a:pPr>
              <a:spcAft>
                <a:spcPts val="800"/>
              </a:spcAft>
            </a:pPr>
            <a:r>
              <a:rPr sz="2400" b="0" dirty="0">
                <a:latin typeface="+mn-lt"/>
              </a:rPr>
              <a:t>Map regulatory changes to potentially affected clauses/documents using Neo4j.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000" b="1">
                <a:latin typeface="Calibri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Contract Guardian (RAG-Powered)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Calibri"/>
              </a:rPr>
              <a:t>Contract Guardian • Review II • ~60% Completion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3326653" cy="3135889"/>
          </a:xfrm>
        </p:spPr>
        <p:txBody>
          <a:bodyPr wrap="square"/>
          <a:lstStyle/>
          <a:p>
            <a:pPr marL="0" indent="0">
              <a:spcAft>
                <a:spcPts val="300"/>
              </a:spcAft>
              <a:buNone/>
            </a:pPr>
            <a:r>
              <a:rPr sz="2400" b="0" dirty="0">
                <a:latin typeface="+mn-lt"/>
              </a:rPr>
              <a:t>1. Clause Risk Highlighter</a:t>
            </a:r>
          </a:p>
          <a:p>
            <a:pPr>
              <a:spcAft>
                <a:spcPts val="1000"/>
              </a:spcAft>
            </a:pPr>
            <a:r>
              <a:rPr sz="2400" b="0" dirty="0">
                <a:latin typeface="+mn-lt"/>
              </a:rPr>
              <a:t>Completed / prototype ready</a:t>
            </a:r>
            <a:br>
              <a:rPr sz="2400" b="0" dirty="0">
                <a:latin typeface="+mn-lt"/>
              </a:rPr>
            </a:br>
            <a:r>
              <a:rPr sz="2400" b="0" dirty="0">
                <a:latin typeface="+mn-lt"/>
              </a:rPr>
              <a:t>• Retrieval context</a:t>
            </a:r>
            <a:br>
              <a:rPr sz="2400" b="0" dirty="0">
                <a:latin typeface="+mn-lt"/>
              </a:rPr>
            </a:br>
            <a:r>
              <a:rPr sz="2400" b="0" dirty="0">
                <a:latin typeface="+mn-lt"/>
              </a:rPr>
              <a:t>• LLM prompt layer</a:t>
            </a:r>
            <a:br>
              <a:rPr sz="2400" b="0" dirty="0">
                <a:latin typeface="+mn-lt"/>
              </a:rPr>
            </a:br>
            <a:r>
              <a:rPr sz="2400" b="0" dirty="0">
                <a:latin typeface="+mn-lt"/>
              </a:rPr>
              <a:t>• Risk scoring</a:t>
            </a:r>
            <a:br>
              <a:rPr sz="2400" b="0" dirty="0">
                <a:latin typeface="+mn-lt"/>
              </a:rPr>
            </a:br>
            <a:r>
              <a:rPr sz="2400" b="0" dirty="0">
                <a:latin typeface="+mn-lt"/>
              </a:rPr>
              <a:t>•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2800" b="1" dirty="0">
                <a:latin typeface="Calibri"/>
              </a:rPr>
              <a:t>System Modules &amp; Review-II Status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Contract Guardian (RAG-Powered)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dirty="0">
                <a:latin typeface="Calibri"/>
              </a:rPr>
              <a:t>Contract Guardian • Review II • ~60% Completion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31F9B5C-2C76-152E-B862-D09EAEEDA208}"/>
              </a:ext>
            </a:extLst>
          </p:cNvPr>
          <p:cNvSpPr txBox="1">
            <a:spLocks/>
          </p:cNvSpPr>
          <p:nvPr/>
        </p:nvSpPr>
        <p:spPr>
          <a:xfrm>
            <a:off x="4277869" y="1280258"/>
            <a:ext cx="4151112" cy="251744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IN" sz="2400" b="0" dirty="0">
                <a:latin typeface="+mn-lt"/>
              </a:rPr>
              <a:t>2. Drift Tracker</a:t>
            </a:r>
          </a:p>
          <a:p>
            <a:pPr>
              <a:spcAft>
                <a:spcPts val="1000"/>
              </a:spcAft>
            </a:pPr>
            <a:r>
              <a:rPr lang="en-IN" sz="2400" b="0" dirty="0">
                <a:latin typeface="+mn-lt"/>
              </a:rPr>
              <a:t>In progress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Version repository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Basic comparison planned/started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Semantic drift next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D2E0950D-E235-BF48-2092-0D5036923747}"/>
              </a:ext>
            </a:extLst>
          </p:cNvPr>
          <p:cNvSpPr txBox="1">
            <a:spLocks/>
          </p:cNvSpPr>
          <p:nvPr/>
        </p:nvSpPr>
        <p:spPr>
          <a:xfrm>
            <a:off x="8040888" y="1280258"/>
            <a:ext cx="4151112" cy="251744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IN" sz="2400" b="0" dirty="0">
                <a:latin typeface="+mn-lt"/>
              </a:rPr>
              <a:t>3. Regulatory Ripple Mapper</a:t>
            </a:r>
          </a:p>
          <a:p>
            <a:pPr>
              <a:spcAft>
                <a:spcPts val="1000"/>
              </a:spcAft>
            </a:pPr>
            <a:r>
              <a:rPr lang="en-IN" sz="2400" b="0" dirty="0">
                <a:latin typeface="+mn-lt"/>
              </a:rPr>
              <a:t>Planned for next phase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Regulation ingestion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Clause-law matching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Neo4j knowledge graph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686911"/>
          </a:xfrm>
        </p:spPr>
        <p:txBody>
          <a:bodyPr wrap="square" lIns="109728" tIns="54864" rIns="73152" bIns="54864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sz="2400" b="0" dirty="0">
                <a:latin typeface="+mn-lt"/>
              </a:rPr>
              <a:t>1. Document ingestion → PDF / DOCX / HTML / TXT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sz="2400" b="0" dirty="0">
                <a:latin typeface="+mn-lt"/>
              </a:rPr>
              <a:t>2. Text cleaning → remove headers, footers, page numbers and formatting noise</a:t>
            </a:r>
          </a:p>
          <a:p>
            <a:pPr marL="0" indent="0">
              <a:spcAft>
                <a:spcPts val="800"/>
              </a:spcAft>
              <a:buNone/>
            </a:pPr>
            <a:r>
              <a:rPr sz="2400" b="0" dirty="0">
                <a:latin typeface="+mn-lt"/>
              </a:rPr>
              <a:t>3. Clause segmentation → identify sections, articles and clause boundaries</a:t>
            </a:r>
          </a:p>
          <a:p>
            <a:pPr marL="0" indent="0">
              <a:spcAft>
                <a:spcPts val="800"/>
              </a:spcAft>
              <a:buNone/>
            </a:pPr>
            <a:r>
              <a:rPr sz="2400" b="0" dirty="0">
                <a:latin typeface="+mn-lt"/>
              </a:rPr>
              <a:t>4. Knowledge base → regulations + legal guidance + standard/fair clauses</a:t>
            </a:r>
          </a:p>
          <a:p>
            <a:pPr marL="0" indent="0">
              <a:spcAft>
                <a:spcPts val="800"/>
              </a:spcAft>
              <a:buNone/>
            </a:pPr>
            <a:r>
              <a:rPr sz="2400" b="0" dirty="0">
                <a:latin typeface="+mn-lt"/>
              </a:rPr>
              <a:t>5. Embeddings → convert clauses and legal references into semantic vectors</a:t>
            </a:r>
          </a:p>
          <a:p>
            <a:pPr marL="0" indent="0">
              <a:spcAft>
                <a:spcPts val="800"/>
              </a:spcAft>
              <a:buNone/>
            </a:pPr>
            <a:r>
              <a:rPr sz="2400" b="0" dirty="0">
                <a:latin typeface="+mn-lt"/>
              </a:rPr>
              <a:t>6. Retrieval → Top-K relevant regulations, similar clauses and standards</a:t>
            </a:r>
          </a:p>
          <a:p>
            <a:pPr marL="0" indent="0">
              <a:spcAft>
                <a:spcPts val="800"/>
              </a:spcAft>
              <a:buNone/>
            </a:pPr>
            <a:r>
              <a:rPr sz="2400" b="0" dirty="0">
                <a:latin typeface="+mn-lt"/>
              </a:rPr>
              <a:t>7. RAG + LLM → combine clause text with retrieved evidence for reasoning</a:t>
            </a:r>
          </a:p>
          <a:p>
            <a:pPr marL="0" indent="0">
              <a:spcAft>
                <a:spcPts val="800"/>
              </a:spcAft>
              <a:buNone/>
            </a:pPr>
            <a:r>
              <a:rPr sz="2400" b="0" dirty="0">
                <a:latin typeface="+mn-lt"/>
              </a:rPr>
              <a:t>8. Module outputs → risk score, change analysis and regulatory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Contract Guardian (RAG-Powered)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Calibri"/>
              </a:rPr>
              <a:t>Contract Guardian • Review II • ~60% Completion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874747"/>
          </a:xfrm>
        </p:spPr>
        <p:txBody>
          <a:bodyPr wrap="square" lIns="109728" tIns="54864" rIns="73152" bIns="54864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sz="2000" b="0" dirty="0">
                <a:latin typeface="+mn-lt"/>
              </a:rPr>
              <a:t>Supported input formats: PDF, DOCX, HTML and TXT.</a:t>
            </a:r>
            <a:endParaRPr lang="en-US" sz="2000" b="0" dirty="0">
              <a:solidFill>
                <a:srgbClr val="5583D1"/>
              </a:solidFill>
              <a:latin typeface="+mn-lt"/>
            </a:endParaRPr>
          </a:p>
          <a:p>
            <a:pPr>
              <a:spcAft>
                <a:spcPts val="800"/>
              </a:spcAft>
            </a:pPr>
            <a:r>
              <a:rPr sz="2000" b="0" dirty="0">
                <a:latin typeface="+mn-lt"/>
              </a:rPr>
              <a:t>PDF extraction: text, headings and page structure using </a:t>
            </a:r>
            <a:r>
              <a:rPr sz="2000" b="0" dirty="0" err="1">
                <a:latin typeface="+mn-lt"/>
              </a:rPr>
              <a:t>PyMuPDF</a:t>
            </a:r>
            <a:r>
              <a:rPr sz="2000" b="0" dirty="0">
                <a:latin typeface="+mn-lt"/>
              </a:rPr>
              <a:t> / </a:t>
            </a:r>
            <a:r>
              <a:rPr sz="2000" b="0" dirty="0" err="1">
                <a:latin typeface="+mn-lt"/>
              </a:rPr>
              <a:t>pdfplumber</a:t>
            </a:r>
            <a:r>
              <a:rPr sz="2000" b="0" dirty="0">
                <a:latin typeface="+mn-lt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dirty="0">
                <a:latin typeface="+mn-lt"/>
              </a:rPr>
              <a:t>DOCX extraction: headings, paragraphs and tables using python-docx.</a:t>
            </a:r>
          </a:p>
          <a:p>
            <a:pPr>
              <a:spcAft>
                <a:spcPts val="800"/>
              </a:spcAft>
            </a:pPr>
            <a:r>
              <a:rPr sz="2000" b="0" dirty="0">
                <a:latin typeface="+mn-lt"/>
              </a:rPr>
              <a:t>HTML extraction: Terms of Service and Privacy Policy content using </a:t>
            </a:r>
            <a:r>
              <a:rPr sz="2000" b="0" dirty="0" err="1">
                <a:latin typeface="+mn-lt"/>
              </a:rPr>
              <a:t>BeautifulSoup</a:t>
            </a:r>
            <a:r>
              <a:rPr sz="2000" b="0" dirty="0">
                <a:latin typeface="+mn-lt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dirty="0">
                <a:latin typeface="+mn-lt"/>
              </a:rPr>
              <a:t>Cleaning: remove page numbers, headers, footers, HTML artifacts and whitespace noise.</a:t>
            </a:r>
          </a:p>
          <a:p>
            <a:pPr>
              <a:spcAft>
                <a:spcPts val="800"/>
              </a:spcAft>
            </a:pPr>
            <a:r>
              <a:rPr sz="2000" b="0" dirty="0">
                <a:latin typeface="+mn-lt"/>
              </a:rPr>
              <a:t>Clause segmentation: section/article/title-aware splitting into structured clause records.</a:t>
            </a:r>
          </a:p>
          <a:p>
            <a:pPr>
              <a:spcAft>
                <a:spcPts val="800"/>
              </a:spcAft>
            </a:pPr>
            <a:r>
              <a:rPr sz="2000" b="0" dirty="0">
                <a:latin typeface="+mn-lt"/>
              </a:rPr>
              <a:t>Data quality checks: duplicates, missing fields, inconsistent labels and document/clause structure.</a:t>
            </a:r>
          </a:p>
          <a:p>
            <a:pPr>
              <a:spcAft>
                <a:spcPts val="800"/>
              </a:spcAft>
            </a:pPr>
            <a:r>
              <a:rPr sz="2000" b="0" dirty="0">
                <a:latin typeface="+mn-lt"/>
              </a:rPr>
              <a:t>EDA focus: document length, clause length, clause categories and corpus composition before indexing.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Contract Guardian (RAG-Powered)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Calibri"/>
              </a:rPr>
              <a:t>Contract Guardian • Review II • ~60% Completion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9586" y="1137274"/>
            <a:ext cx="11562413" cy="5218181"/>
          </a:xfrm>
        </p:spPr>
        <p:txBody>
          <a:bodyPr wrap="square" lIns="109728" tIns="54864" rIns="73152" bIns="54864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sz="2000" b="0" dirty="0">
                <a:latin typeface="+mn-lt"/>
              </a:rPr>
              <a:t>Backend: Python + </a:t>
            </a:r>
            <a:r>
              <a:rPr sz="2000" b="0" dirty="0" err="1">
                <a:latin typeface="+mn-lt"/>
              </a:rPr>
              <a:t>FastAPI</a:t>
            </a:r>
            <a:endParaRPr lang="en-US" sz="20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+mn-lt"/>
              </a:rPr>
              <a:t>Frontend: React.js + Tailwind CSS + Material UI</a:t>
            </a: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+mn-lt"/>
              </a:rPr>
              <a:t>Database: PostgreSQL for users, documents, clauses, versions and analysis results</a:t>
            </a: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+mn-lt"/>
              </a:rPr>
              <a:t>Parsing: </a:t>
            </a:r>
            <a:r>
              <a:rPr sz="2000" b="0" dirty="0" err="1">
                <a:latin typeface="+mn-lt"/>
              </a:rPr>
              <a:t>PyMuPDF</a:t>
            </a:r>
            <a:r>
              <a:rPr sz="2000" b="0" dirty="0">
                <a:latin typeface="+mn-lt"/>
              </a:rPr>
              <a:t>, </a:t>
            </a:r>
            <a:r>
              <a:rPr sz="2000" b="0" dirty="0" err="1">
                <a:latin typeface="+mn-lt"/>
              </a:rPr>
              <a:t>pdfplumber</a:t>
            </a:r>
            <a:r>
              <a:rPr sz="2000" b="0" dirty="0">
                <a:latin typeface="+mn-lt"/>
              </a:rPr>
              <a:t>, python-docx, </a:t>
            </a:r>
            <a:r>
              <a:rPr sz="2000" b="0" dirty="0" err="1">
                <a:latin typeface="+mn-lt"/>
              </a:rPr>
              <a:t>BeautifulSoup</a:t>
            </a:r>
            <a:endParaRPr sz="2000" b="0" dirty="0">
              <a:latin typeface="+mn-lt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+mn-lt"/>
              </a:rPr>
              <a:t>Embeddings: BGE-Large / E5-base / Sentence-BERT evaluation; final model selected during implementation</a:t>
            </a: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+mn-lt"/>
              </a:rPr>
              <a:t>Vector store: </a:t>
            </a:r>
            <a:r>
              <a:rPr sz="2000" b="0" dirty="0" err="1">
                <a:latin typeface="+mn-lt"/>
              </a:rPr>
              <a:t>ChromaDB</a:t>
            </a:r>
            <a:r>
              <a:rPr sz="2000" b="0" dirty="0">
                <a:latin typeface="+mn-lt"/>
              </a:rPr>
              <a:t> (prototype) / Pinecone as an alternative</a:t>
            </a: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+mn-lt"/>
              </a:rPr>
              <a:t>RAG: Top-K semantic retrieval → context assembly → LLM generation</a:t>
            </a: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+mn-lt"/>
              </a:rPr>
              <a:t>LLM layer: Azure OpenAI / GPT integration for reasoning and explanations</a:t>
            </a: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+mn-lt"/>
              </a:rPr>
              <a:t>Version comparison: </a:t>
            </a:r>
            <a:r>
              <a:rPr sz="2000" b="0" dirty="0" err="1">
                <a:latin typeface="+mn-lt"/>
              </a:rPr>
              <a:t>difflib</a:t>
            </a:r>
            <a:r>
              <a:rPr sz="2000" b="0" dirty="0">
                <a:latin typeface="+mn-lt"/>
              </a:rPr>
              <a:t> + sentence-transformer semantic similarity</a:t>
            </a: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+mn-lt"/>
              </a:rPr>
              <a:t>Knowledge graph: Neo4j for Contract–Clause–Right–Regulation relationships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Contract Guardian (RAG-Powered)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Calibri"/>
              </a:rPr>
              <a:t>Contract Guardian • Review II • ~60% Completion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109728" tIns="54864" rIns="73152" bIns="54864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sz="2400" b="0" dirty="0">
                <a:latin typeface="+mn-lt"/>
              </a:rPr>
              <a:t>Overall completion for Review II: approximately 60%.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>
              <a:spcAft>
                <a:spcPts val="800"/>
              </a:spcAft>
            </a:pPr>
            <a:r>
              <a:rPr sz="2400" b="0" dirty="0">
                <a:latin typeface="+mn-lt"/>
              </a:rPr>
              <a:t>Weeks 1–4: Project setup, document pipeline, legal knowledge base, embeddings and RAG foundation — completed at prototype level.</a:t>
            </a:r>
          </a:p>
          <a:p>
            <a:pPr>
              <a:spcAft>
                <a:spcPts val="800"/>
              </a:spcAft>
            </a:pPr>
            <a:r>
              <a:rPr sz="2400" b="0" dirty="0">
                <a:latin typeface="+mn-lt"/>
              </a:rPr>
              <a:t>Week 5: Clause Risk Highlighter — core implementation completed and end-to-end testing initiated.</a:t>
            </a:r>
          </a:p>
          <a:p>
            <a:pPr>
              <a:spcAft>
                <a:spcPts val="800"/>
              </a:spcAft>
            </a:pPr>
            <a:r>
              <a:rPr sz="2400" b="0" dirty="0">
                <a:latin typeface="+mn-lt"/>
              </a:rPr>
              <a:t>Week 6: Drift Tracker — version management started; semantic drift, change classification and rights-erosion analysis are next.</a:t>
            </a:r>
          </a:p>
          <a:p>
            <a:pPr>
              <a:spcAft>
                <a:spcPts val="800"/>
              </a:spcAft>
            </a:pPr>
            <a:r>
              <a:rPr sz="2400" b="0" dirty="0">
                <a:latin typeface="+mn-lt"/>
              </a:rPr>
              <a:t>Weeks 7–8: Regulatory Ripple Mapper, Neo4j, dashboard, evaluation, optimization and final integration — upcoming.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Contract Guardian (RAG-Powered)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6035040"/>
            <a:ext cx="9875520" cy="256032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6061798"/>
            <a:ext cx="5925312" cy="256032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561320" y="5961214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latin typeface="Calibri"/>
              </a:rP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Calibri"/>
              </a:rPr>
              <a:t>Contract Guardian • Review II • ~60% Completion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6685" y="1271219"/>
            <a:ext cx="4689912" cy="5586781"/>
          </a:xfrm>
        </p:spPr>
        <p:txBody>
          <a:bodyPr wrap="square" lIns="109728" tIns="54864" rIns="73152" bIns="54864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sz="2000" b="0" dirty="0">
                <a:latin typeface="Calibri"/>
              </a:rPr>
              <a:t>User uploads contract / policy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Calibri"/>
              </a:rPr>
              <a:t>↓</a:t>
            </a: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Calibri"/>
              </a:rPr>
              <a:t>Document Parser → Text Cleaning → Clause Segmentation</a:t>
            </a: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Calibri"/>
              </a:rPr>
              <a:t>↓</a:t>
            </a: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Calibri"/>
              </a:rPr>
              <a:t>Structured Clause Store + PostgreSQL</a:t>
            </a: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Calibri"/>
              </a:rPr>
              <a:t>↓</a:t>
            </a: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Calibri"/>
              </a:rPr>
              <a:t>Legal Knowledge Base → Regulations / Guidance / Fair Clauses</a:t>
            </a:r>
          </a:p>
          <a:p>
            <a:pPr marL="0" indent="0">
              <a:spcAft>
                <a:spcPts val="800"/>
              </a:spcAft>
              <a:buNone/>
            </a:pPr>
            <a:r>
              <a:rPr sz="2000" b="0" dirty="0">
                <a:latin typeface="Calibri"/>
              </a:rPr>
              <a:t>↓</a:t>
            </a:r>
          </a:p>
          <a:p>
            <a:pPr marL="0" indent="0">
              <a:spcAft>
                <a:spcPts val="800"/>
              </a:spcAft>
              <a:buNone/>
            </a:pPr>
            <a:endParaRPr sz="2000" dirty="0"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21274" y="52398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Contract Guardian (RAG-Powered)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Calibri"/>
              </a:rPr>
              <a:t>Contract Guardian • Review II • ~60% Completion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0240542D-8A4E-5A8E-8C47-C378181A2361}"/>
              </a:ext>
            </a:extLst>
          </p:cNvPr>
          <p:cNvSpPr txBox="1">
            <a:spLocks/>
          </p:cNvSpPr>
          <p:nvPr/>
        </p:nvSpPr>
        <p:spPr>
          <a:xfrm>
            <a:off x="5408962" y="1302283"/>
            <a:ext cx="5391952" cy="5586781"/>
          </a:xfrm>
          <a:prstGeom prst="rect">
            <a:avLst/>
          </a:prstGeom>
        </p:spPr>
        <p:txBody>
          <a:bodyPr vert="horz" wrap="square" lIns="109728" tIns="54864" rIns="73152" bIns="54864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800"/>
              </a:spcAft>
              <a:buNone/>
            </a:pPr>
            <a:r>
              <a:rPr lang="en-IN" sz="2000" b="0" dirty="0">
                <a:latin typeface="Calibri"/>
              </a:rPr>
              <a:t>Embedding Model → Vector Database → Top-K Retrieval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IN" sz="2000" b="0" dirty="0">
                <a:latin typeface="Calibri"/>
              </a:rPr>
              <a:t>↓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IN" sz="2000" b="0" dirty="0">
                <a:latin typeface="Calibri"/>
              </a:rPr>
              <a:t>RAG Context Builder → LLM Reasoning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IN" sz="2000" b="0" dirty="0">
                <a:latin typeface="Calibri"/>
              </a:rPr>
              <a:t>↓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IN" sz="2000" b="0" dirty="0">
                <a:latin typeface="Calibri"/>
              </a:rPr>
              <a:t>Clause Risk Analysis / Version Drift / Regulatory Impact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IN" sz="2000" b="0" dirty="0">
                <a:latin typeface="Calibri"/>
              </a:rPr>
              <a:t>↓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IN" sz="2000" b="0" dirty="0">
                <a:latin typeface="Calibri"/>
              </a:rPr>
              <a:t>PostgreSQL + Neo4j → React Dashboard &amp; Explanations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909</Words>
  <Application>Microsoft Office PowerPoint</Application>
  <PresentationFormat>Widescreen</PresentationFormat>
  <Paragraphs>104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Liya Elizabeth Raju</cp:lastModifiedBy>
  <cp:revision>16</cp:revision>
  <dcterms:created xsi:type="dcterms:W3CDTF">2024-05-13T10:33:11Z</dcterms:created>
  <dcterms:modified xsi:type="dcterms:W3CDTF">2026-09-25T08:05:21Z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