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508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DB4FE-A76F-41D6-97AB-4D6ADAD3C4C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3F328-1A0F-4642-8189-1A647E01C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9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B791B-2D18-4343-B87F-C5F130BCFEE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543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 err="1">
                <a:solidFill>
                  <a:schemeClr val="bg1"/>
                </a:solidFill>
              </a:rPr>
              <a:t>CashFlow</a:t>
            </a:r>
            <a:r>
              <a:rPr lang="en-IN" sz="3600" b="1" dirty="0">
                <a:solidFill>
                  <a:schemeClr val="bg1"/>
                </a:solidFill>
              </a:rPr>
              <a:t> Copilot :</a:t>
            </a:r>
          </a:p>
          <a:p>
            <a:pPr algn="ctr"/>
            <a:r>
              <a:rPr lang="en-IN" sz="3600" b="1" dirty="0">
                <a:solidFill>
                  <a:schemeClr val="bg1"/>
                </a:solidFill>
              </a:rPr>
              <a:t>An Agentic AI System for Reconstructing Informal-Sector Income, Explainable Credit Scoring, and Autonomous Cash-Flow Management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LIYA ELIZABETH RAJU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F302A-95FE-B2DC-D62E-C4D8E37BA1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202" b="25961"/>
          <a:stretch>
            <a:fillRect/>
          </a:stretch>
        </p:blipFill>
        <p:spPr>
          <a:xfrm>
            <a:off x="148893" y="5852667"/>
            <a:ext cx="2447521" cy="9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6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29790"/>
          </a:xfrm>
        </p:spPr>
        <p:txBody>
          <a:bodyPr wrap="square" lIns="109728" tIns="36576" rIns="73152" bIns="36576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</a:pPr>
            <a:r>
              <a:rPr sz="2000" b="0" dirty="0" err="1">
                <a:latin typeface="+mn-lt"/>
              </a:rPr>
              <a:t>CashFlow</a:t>
            </a:r>
            <a:r>
              <a:rPr sz="2000" b="0" dirty="0">
                <a:latin typeface="+mn-lt"/>
              </a:rPr>
              <a:t> Copilot is a local, explainable financial intelligence platform for reconstructing income and supporting credit and cash-flow decisions.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The system processes bank statements, UPI/mobile-wallet data and invoices through a shared data-processing and feature layer.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Core capabilities: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Income Reconstruction — estimates income, stability and confidence from transaction and business signals.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Explainable Credit Scoring — predicts risk using ML and explains decisions with SHAP.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Cash Flow Forecasting — forecasts inflows/outflows and identifies liquidity gaps.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Multi-Agent Assistance — Receivables Chaser, Payment-Term Negotiation and forecasting workflow using </a:t>
            </a:r>
            <a:r>
              <a:rPr sz="2000" b="0" dirty="0" err="1">
                <a:latin typeface="+mn-lt"/>
              </a:rPr>
              <a:t>LangGraph</a:t>
            </a:r>
            <a:r>
              <a:rPr sz="2000" b="0" dirty="0"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09728" tIns="36576" rIns="73152" bIns="36576"/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2000" b="0" dirty="0">
                <a:latin typeface="+mn-lt"/>
              </a:rPr>
              <a:t>Build a complete local/on-premise financial analytics prototype using </a:t>
            </a:r>
            <a:r>
              <a:rPr sz="2000" b="0" dirty="0" err="1">
                <a:latin typeface="+mn-lt"/>
              </a:rPr>
              <a:t>FastAPI</a:t>
            </a:r>
            <a:r>
              <a:rPr sz="2000" b="0" dirty="0">
                <a:latin typeface="+mn-lt"/>
              </a:rPr>
              <a:t> and PostgreSQL.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700"/>
              </a:spcAft>
            </a:pPr>
            <a:r>
              <a:rPr sz="2000" b="0" dirty="0">
                <a:latin typeface="+mn-lt"/>
              </a:rPr>
              <a:t>Create a robust ingestion and cleaning pipeline for CSV, Excel, PDF and financial transaction sources.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+mn-lt"/>
              </a:rPr>
              <a:t>Reconstruct income using recurring credits, business revenue and invoice collections.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+mn-lt"/>
              </a:rPr>
              <a:t>Develop an explainable </a:t>
            </a:r>
            <a:r>
              <a:rPr sz="2000" b="0" dirty="0" err="1">
                <a:latin typeface="+mn-lt"/>
              </a:rPr>
              <a:t>XGBoost</a:t>
            </a:r>
            <a:r>
              <a:rPr sz="2000" b="0" dirty="0">
                <a:latin typeface="+mn-lt"/>
              </a:rPr>
              <a:t>-based credit scoring engine with SHAP explanations.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+mn-lt"/>
              </a:rPr>
              <a:t>Forecast 30-day cash flow and detect negative balances and liquidity gaps.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+mn-lt"/>
              </a:rPr>
              <a:t>Build cooperative financial agents using </a:t>
            </a:r>
            <a:r>
              <a:rPr sz="2000" b="0" dirty="0" err="1">
                <a:latin typeface="+mn-lt"/>
              </a:rPr>
              <a:t>LangGraph</a:t>
            </a:r>
            <a:r>
              <a:rPr sz="2000" b="0" dirty="0">
                <a:latin typeface="+mn-lt"/>
              </a:rPr>
              <a:t>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+mn-lt"/>
              </a:rPr>
              <a:t>Introduce human-in-the-loop approvals, audit logging and </a:t>
            </a:r>
            <a:r>
              <a:rPr sz="2000" b="0" dirty="0" err="1">
                <a:latin typeface="+mn-lt"/>
              </a:rPr>
              <a:t>Dockerized</a:t>
            </a:r>
            <a:r>
              <a:rPr sz="2000" b="0" dirty="0">
                <a:latin typeface="+mn-lt"/>
              </a:rPr>
              <a:t>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 b="1"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625518"/>
            <a:ext cx="3866299" cy="5132419"/>
          </a:xfrm>
        </p:spPr>
        <p:txBody>
          <a:bodyPr wrap="square"/>
          <a:lstStyle/>
          <a:p>
            <a:pPr marL="0" indent="0">
              <a:spcAft>
                <a:spcPts val="200"/>
              </a:spcAft>
              <a:buNone/>
            </a:pPr>
            <a:r>
              <a:rPr sz="2400" b="0" dirty="0">
                <a:latin typeface="+mn-lt"/>
              </a:rPr>
              <a:t>1. Data Ingestion &amp; Processing</a:t>
            </a:r>
          </a:p>
          <a:p>
            <a:pPr marL="0" indent="0">
              <a:spcAft>
                <a:spcPts val="900"/>
              </a:spcAft>
              <a:buNone/>
            </a:pPr>
            <a:r>
              <a:rPr sz="2400" b="0" dirty="0">
                <a:latin typeface="+mn-lt"/>
              </a:rPr>
              <a:t>Completed / prototype level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Upload APIs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Statement parser</a:t>
            </a:r>
            <a:br>
              <a:rPr sz="2400" b="0" dirty="0">
                <a:latin typeface="+mn-lt"/>
              </a:rPr>
            </a:br>
            <a:r>
              <a:rPr sz="2400" b="0" dirty="0">
                <a:latin typeface="+mn-lt"/>
              </a:rPr>
              <a:t>• Cleaning &amp; categorization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2800" b="1">
                <a:latin typeface="Calibri"/>
              </a:rPr>
              <a:t>System Modules &amp; Review-II Status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58C4065-AD66-05AE-D929-A17822F8CA3C}"/>
              </a:ext>
            </a:extLst>
          </p:cNvPr>
          <p:cNvSpPr txBox="1">
            <a:spLocks/>
          </p:cNvSpPr>
          <p:nvPr/>
        </p:nvSpPr>
        <p:spPr>
          <a:xfrm>
            <a:off x="3997958" y="1582637"/>
            <a:ext cx="3866300" cy="513241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lang="en-IN" sz="2400" b="0" dirty="0">
                <a:latin typeface="+mn-lt"/>
              </a:rPr>
              <a:t>2. Income + Credit Intelligence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400" b="0" dirty="0">
                <a:latin typeface="+mn-lt"/>
              </a:rPr>
              <a:t>Core implementation in progress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Feature engineering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Income reconstruction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</a:t>
            </a:r>
            <a:r>
              <a:rPr lang="en-IN" sz="2400" b="0" dirty="0" err="1">
                <a:latin typeface="+mn-lt"/>
              </a:rPr>
              <a:t>XGBoost</a:t>
            </a:r>
            <a:r>
              <a:rPr lang="en-IN" sz="2400" b="0" dirty="0">
                <a:latin typeface="+mn-lt"/>
              </a:rPr>
              <a:t> + SHAP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A469F98-C5A6-674E-5C2B-4860AD2BF434}"/>
              </a:ext>
            </a:extLst>
          </p:cNvPr>
          <p:cNvSpPr txBox="1">
            <a:spLocks/>
          </p:cNvSpPr>
          <p:nvPr/>
        </p:nvSpPr>
        <p:spPr>
          <a:xfrm>
            <a:off x="7739921" y="1542701"/>
            <a:ext cx="4196083" cy="513241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lang="en-IN" sz="2400" b="0" dirty="0">
                <a:latin typeface="+mn-lt"/>
              </a:rPr>
              <a:t>3. Forecasting + Agents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400" b="0" dirty="0">
                <a:latin typeface="+mn-lt"/>
              </a:rPr>
              <a:t>Next phase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Prophet/TFT forecasting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</a:t>
            </a:r>
            <a:r>
              <a:rPr lang="en-IN" sz="2400" b="0" dirty="0" err="1">
                <a:latin typeface="+mn-lt"/>
              </a:rPr>
              <a:t>LangGraph</a:t>
            </a:r>
            <a:r>
              <a:rPr lang="en-IN" sz="2400" b="0" dirty="0">
                <a:latin typeface="+mn-lt"/>
              </a:rPr>
              <a:t> agents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Approval &amp; dashboard integration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4556" y="1271219"/>
            <a:ext cx="10205777" cy="5132420"/>
          </a:xfrm>
        </p:spPr>
        <p:txBody>
          <a:bodyPr wrap="square" lIns="109728" tIns="36576" rIns="73152" bIns="36576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1. Data ingestion → bank statements / UPI / wallet / invoices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2. Parsing &amp; cleaning → normalize dates, amounts, descriptions and sources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3. Duplicate &amp; missing-value handling → improve transaction quality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4. Categorization → rule-based labels followed by ML categorization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5. Feature store → income, frequency, behavioral and business features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6. Income reconstruction → estimated income + stability + confidence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7. Credit scoring → Random Forest baseline → </a:t>
            </a:r>
            <a:r>
              <a:rPr sz="2000" b="0" dirty="0" err="1">
                <a:latin typeface="+mn-lt"/>
              </a:rPr>
              <a:t>XGBoost</a:t>
            </a:r>
            <a:r>
              <a:rPr sz="2000" b="0" dirty="0">
                <a:latin typeface="+mn-lt"/>
              </a:rPr>
              <a:t> → SHAP explanations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8. Forecasting → Prophet baseline + TFT → 30-day cash-flow forecast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9. Agents → </a:t>
            </a:r>
            <a:r>
              <a:rPr sz="2000" b="0" dirty="0" err="1">
                <a:latin typeface="+mn-lt"/>
              </a:rPr>
              <a:t>LangGraph</a:t>
            </a:r>
            <a:r>
              <a:rPr sz="2000" b="0" dirty="0">
                <a:latin typeface="+mn-lt"/>
              </a:rPr>
              <a:t> workflow with receivables and negotiation assistance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10. Governance → approval levels + audit logging → dashboards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686909"/>
          </a:xfrm>
        </p:spPr>
        <p:txBody>
          <a:bodyPr wrap="square" lIns="109728" tIns="36576" rIns="73152" bIns="36576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Input formats: CSV, Excel, PDF and financial transaction exports.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Statement parser produces normalized records: date, amount and description.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Duplicate detection uses date, amount and reference number.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Missing-value processing handles dates, descriptions and categories.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Transaction normalization converts raw descriptions such as payment-provider references into standardized labels.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Categorization covers Salary, Revenue, Utility, Rent, EMI, Shopping and Vendor Payment.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EDA focus: monthly deposits, revenue trends, transaction frequency, expense ratio, withdrawal ratio and receivable age.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The cleaned records become the basis for the shared feature store and downstream models.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4360" y="1271219"/>
            <a:ext cx="9905973" cy="5218182"/>
          </a:xfrm>
        </p:spPr>
        <p:txBody>
          <a:bodyPr wrap="square" lIns="109728" tIns="36576" rIns="73152" bIns="36576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Backend: Python + </a:t>
            </a:r>
            <a:r>
              <a:rPr sz="2000" b="0" dirty="0" err="1">
                <a:latin typeface="+mn-lt"/>
              </a:rPr>
              <a:t>FastAPI</a:t>
            </a:r>
            <a:r>
              <a:rPr sz="2000" b="0" dirty="0">
                <a:latin typeface="+mn-lt"/>
              </a:rPr>
              <a:t> + </a:t>
            </a:r>
            <a:r>
              <a:rPr sz="2000" b="0" dirty="0" err="1">
                <a:latin typeface="+mn-lt"/>
              </a:rPr>
              <a:t>Pydantic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Database: PostgreSQL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Storage: Local File Storage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ETL &amp; scheduling: Pandas + Linux Cron Jobs / </a:t>
            </a:r>
            <a:r>
              <a:rPr sz="2000" b="0" dirty="0" err="1">
                <a:latin typeface="+mn-lt"/>
              </a:rPr>
              <a:t>APScheduler</a:t>
            </a:r>
            <a:endParaRPr sz="2000" b="0" dirty="0"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ML: Random Forest baseline + </a:t>
            </a:r>
            <a:r>
              <a:rPr sz="2000" b="0" dirty="0" err="1">
                <a:latin typeface="+mn-lt"/>
              </a:rPr>
              <a:t>XGBoost</a:t>
            </a:r>
            <a:endParaRPr sz="2000" b="0" dirty="0"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Explainability: SHAP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Forecasting: Prophet baseline + Temporal Fusion Transformer (TFT)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Multi-agent orchestration: </a:t>
            </a:r>
            <a:r>
              <a:rPr sz="2000" b="0" dirty="0" err="1">
                <a:latin typeface="+mn-lt"/>
              </a:rPr>
              <a:t>LangGraph</a:t>
            </a:r>
            <a:endParaRPr sz="2000" b="0" dirty="0"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Frontend: React + Tailwind CSS + Chart.js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Deployment: Docker Compose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4"/>
          </a:xfrm>
        </p:spPr>
        <p:txBody>
          <a:bodyPr wrap="square" lIns="109728" tIns="36576" rIns="73152" bIns="36576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Overall completion for Review II: approximately 60%.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Phase 1 — Foundation Setup: completed / prototype established.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Phase 2 — Data Processing Layer: completed at core prototype level.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Phase 3 — Income Reconstruction Engine: implemented through feature and confidence-engine design.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Phase 4 — Shared Feature Store: implementation underway.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Phase 5–6 — Credit Scoring + SHAP: model development and explainability are the current major workstream.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Remaining: forecasting, multi-agent layer, governance, dashboard and final end-to-end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9330" y="5829780"/>
            <a:ext cx="9875520" cy="256032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9330" y="5829780"/>
            <a:ext cx="5925312" cy="256032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6290" y="570176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latin typeface="Calibr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6174784" cy="5403900"/>
          </a:xfrm>
        </p:spPr>
        <p:txBody>
          <a:bodyPr wrap="square" lIns="109728" tIns="36576" rIns="73152" bIns="36576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Financial Data Upload</a:t>
            </a:r>
            <a:endParaRPr lang="en-US" sz="20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↓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Parser → Cleaning → Duplicate Detection → Categorization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↓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Shared Feature Store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↓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Income Reconstruction → Stability &amp; Confidence</a:t>
            </a:r>
          </a:p>
          <a:p>
            <a:pPr marL="0" indent="0">
              <a:spcAft>
                <a:spcPts val="700"/>
              </a:spcAft>
              <a:buNone/>
            </a:pPr>
            <a:r>
              <a:rPr sz="2000" b="0" dirty="0">
                <a:latin typeface="+mn-lt"/>
              </a:rPr>
              <a:t>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000" b="1"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500" b="1">
                <a:latin typeface="Calibri"/>
              </a:rPr>
              <a:t>CashFlow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Calibri"/>
              </a:rPr>
              <a:t>CashFlow Copilot • Review II • ~60% Completion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3C6A77D-8883-1BC6-51FE-8CE22377CF79}"/>
              </a:ext>
            </a:extLst>
          </p:cNvPr>
          <p:cNvSpPr txBox="1">
            <a:spLocks/>
          </p:cNvSpPr>
          <p:nvPr/>
        </p:nvSpPr>
        <p:spPr>
          <a:xfrm>
            <a:off x="5761220" y="1191756"/>
            <a:ext cx="6174784" cy="5254763"/>
          </a:xfrm>
          <a:prstGeom prst="rect">
            <a:avLst/>
          </a:prstGeom>
        </p:spPr>
        <p:txBody>
          <a:bodyPr vert="horz" wrap="square" lIns="109728" tIns="36576" rIns="73152" bIns="3657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700"/>
              </a:spcAft>
              <a:buNone/>
            </a:pPr>
            <a:r>
              <a:rPr lang="en-GB" sz="2000" b="0" dirty="0"/>
              <a:t>XGBoost Credit Scoring → SHAP Explainability</a:t>
            </a:r>
            <a:endParaRPr lang="en-IN" sz="2000" b="0" dirty="0">
              <a:latin typeface="Calibri"/>
            </a:endParaRPr>
          </a:p>
          <a:p>
            <a:pPr marL="0" indent="0">
              <a:spcAft>
                <a:spcPts val="700"/>
              </a:spcAft>
              <a:buNone/>
            </a:pPr>
            <a:r>
              <a:rPr lang="en-IN" sz="2000" b="0" dirty="0">
                <a:latin typeface="Calibri"/>
              </a:rPr>
              <a:t>↓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IN" sz="2000" b="0" dirty="0">
                <a:latin typeface="Calibri"/>
              </a:rPr>
              <a:t>Cash Flow Forecasting → Risk &amp; Alerts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IN" sz="2000" b="0" dirty="0">
                <a:latin typeface="Calibri"/>
              </a:rPr>
              <a:t>↓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IN" sz="2000" b="0" dirty="0" err="1">
                <a:latin typeface="Calibri"/>
              </a:rPr>
              <a:t>LangGraph</a:t>
            </a:r>
            <a:r>
              <a:rPr lang="en-IN" sz="2000" b="0" dirty="0">
                <a:latin typeface="Calibri"/>
              </a:rPr>
              <a:t> Agents → Receivables → Negotiation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IN" sz="2000" b="0" dirty="0">
                <a:latin typeface="Calibri"/>
              </a:rPr>
              <a:t>↓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IN" sz="2000" b="0" dirty="0">
                <a:latin typeface="Calibri"/>
              </a:rPr>
              <a:t>Human Approval → Audit Log → React Dashboards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857</Words>
  <Application>Microsoft Office PowerPoint</Application>
  <PresentationFormat>Widescreen</PresentationFormat>
  <Paragraphs>109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Liya Elizabeth Raju</cp:lastModifiedBy>
  <cp:revision>14</cp:revision>
  <dcterms:created xsi:type="dcterms:W3CDTF">2024-05-13T10:33:11Z</dcterms:created>
  <dcterms:modified xsi:type="dcterms:W3CDTF">2026-09-25T08:12:21Z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